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Swiss 721 Devanagari Light" charset="1" panose="020B0303020202020204"/>
      <p:regular r:id="rId8"/>
    </p:embeddedFont>
    <p:embeddedFont>
      <p:font typeface="IBM Plex Sans Bold" charset="1" panose="020B0803050203000203"/>
      <p:regular r:id="rId9"/>
    </p:embeddedFont>
    <p:embeddedFont>
      <p:font typeface="Swiss 721 Devanagari Bold" charset="1" panose="020B0803020202020204"/>
      <p:regular r:id="rId10"/>
    </p:embeddedFont>
    <p:embeddedFont>
      <p:font typeface="IBM Plex Sans" charset="1" panose="020B05030502030002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" y="0"/>
            <a:ext cx="7560002" cy="7243772"/>
            <a:chOff x="0" y="0"/>
            <a:chExt cx="10080003" cy="9658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79990" cy="9658350"/>
            </a:xfrm>
            <a:custGeom>
              <a:avLst/>
              <a:gdLst/>
              <a:ahLst/>
              <a:cxnLst/>
              <a:rect r="r" b="b" t="t" l="l"/>
              <a:pathLst>
                <a:path h="9658350" w="10079990">
                  <a:moveTo>
                    <a:pt x="0" y="0"/>
                  </a:moveTo>
                  <a:lnTo>
                    <a:pt x="10079990" y="0"/>
                  </a:lnTo>
                  <a:lnTo>
                    <a:pt x="10079990" y="9658350"/>
                  </a:lnTo>
                  <a:lnTo>
                    <a:pt x="0" y="965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7556497" cy="10680697"/>
            <a:chOff x="0" y="0"/>
            <a:chExt cx="10075329" cy="14240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75291" cy="14240890"/>
            </a:xfrm>
            <a:custGeom>
              <a:avLst/>
              <a:gdLst/>
              <a:ahLst/>
              <a:cxnLst/>
              <a:rect r="r" b="b" t="t" l="l"/>
              <a:pathLst>
                <a:path h="14240890" w="10075291">
                  <a:moveTo>
                    <a:pt x="0" y="0"/>
                  </a:moveTo>
                  <a:lnTo>
                    <a:pt x="10075291" y="0"/>
                  </a:lnTo>
                  <a:lnTo>
                    <a:pt x="10075291" y="14240890"/>
                  </a:lnTo>
                  <a:lnTo>
                    <a:pt x="0" y="14240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503"/>
            <a:ext cx="7687008" cy="10819000"/>
          </a:xfrm>
          <a:custGeom>
            <a:avLst/>
            <a:gdLst/>
            <a:ahLst/>
            <a:cxnLst/>
            <a:rect r="r" b="b" t="t" l="l"/>
            <a:pathLst>
              <a:path h="10819000" w="7687008">
                <a:moveTo>
                  <a:pt x="0" y="0"/>
                </a:moveTo>
                <a:lnTo>
                  <a:pt x="7687008" y="0"/>
                </a:lnTo>
                <a:lnTo>
                  <a:pt x="7687008" y="10819000"/>
                </a:lnTo>
                <a:lnTo>
                  <a:pt x="0" y="1081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63213" y="9390669"/>
            <a:ext cx="2527992" cy="37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902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Airway Dilation Catheter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9040" y="7290064"/>
            <a:ext cx="3327140" cy="65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b="true" sz="3800" spc="-19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Breathe freely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0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7687008" cy="10819000"/>
          </a:xfrm>
          <a:custGeom>
            <a:avLst/>
            <a:gdLst/>
            <a:ahLst/>
            <a:cxnLst/>
            <a:rect r="r" b="b" t="t" l="l"/>
            <a:pathLst>
              <a:path h="10819000" w="7687008">
                <a:moveTo>
                  <a:pt x="0" y="0"/>
                </a:moveTo>
                <a:lnTo>
                  <a:pt x="7687008" y="0"/>
                </a:lnTo>
                <a:lnTo>
                  <a:pt x="7687008" y="10819000"/>
                </a:lnTo>
                <a:lnTo>
                  <a:pt x="0" y="1081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7651" y="5154463"/>
            <a:ext cx="6772342" cy="2408653"/>
            <a:chOff x="0" y="0"/>
            <a:chExt cx="9029789" cy="32115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29827" cy="3211576"/>
            </a:xfrm>
            <a:custGeom>
              <a:avLst/>
              <a:gdLst/>
              <a:ahLst/>
              <a:cxnLst/>
              <a:rect r="r" b="b" t="t" l="l"/>
              <a:pathLst>
                <a:path h="3211576" w="9029827">
                  <a:moveTo>
                    <a:pt x="0" y="0"/>
                  </a:moveTo>
                  <a:lnTo>
                    <a:pt x="9029827" y="0"/>
                  </a:lnTo>
                  <a:lnTo>
                    <a:pt x="9029827" y="3211576"/>
                  </a:lnTo>
                  <a:lnTo>
                    <a:pt x="0" y="3211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5" r="-14" b="-8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80002" y="8613115"/>
            <a:ext cx="5399999" cy="6344"/>
            <a:chOff x="0" y="0"/>
            <a:chExt cx="5400002" cy="6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00045" cy="6354"/>
            </a:xfrm>
            <a:custGeom>
              <a:avLst/>
              <a:gdLst/>
              <a:ahLst/>
              <a:cxnLst/>
              <a:rect r="r" b="b" t="t" l="l"/>
              <a:pathLst>
                <a:path h="6354" w="5400045">
                  <a:moveTo>
                    <a:pt x="0" y="0"/>
                  </a:moveTo>
                  <a:lnTo>
                    <a:pt x="5400045" y="0"/>
                  </a:lnTo>
                  <a:lnTo>
                    <a:pt x="5400045" y="6354"/>
                  </a:lnTo>
                  <a:lnTo>
                    <a:pt x="0" y="6354"/>
                  </a:lnTo>
                  <a:close/>
                </a:path>
              </a:pathLst>
            </a:custGeom>
            <a:solidFill>
              <a:srgbClr val="98989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80002" y="8831828"/>
            <a:ext cx="5399999" cy="6344"/>
            <a:chOff x="0" y="0"/>
            <a:chExt cx="5400002" cy="6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0045" cy="6354"/>
            </a:xfrm>
            <a:custGeom>
              <a:avLst/>
              <a:gdLst/>
              <a:ahLst/>
              <a:cxnLst/>
              <a:rect r="r" b="b" t="t" l="l"/>
              <a:pathLst>
                <a:path h="6354" w="5400045">
                  <a:moveTo>
                    <a:pt x="0" y="0"/>
                  </a:moveTo>
                  <a:lnTo>
                    <a:pt x="5400045" y="0"/>
                  </a:lnTo>
                  <a:lnTo>
                    <a:pt x="5400045" y="6354"/>
                  </a:lnTo>
                  <a:lnTo>
                    <a:pt x="0" y="6354"/>
                  </a:lnTo>
                  <a:close/>
                </a:path>
              </a:pathLst>
            </a:custGeom>
            <a:solidFill>
              <a:srgbClr val="98989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0002" y="9064923"/>
            <a:ext cx="5399999" cy="6344"/>
            <a:chOff x="0" y="0"/>
            <a:chExt cx="5400002" cy="6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00045" cy="6354"/>
            </a:xfrm>
            <a:custGeom>
              <a:avLst/>
              <a:gdLst/>
              <a:ahLst/>
              <a:cxnLst/>
              <a:rect r="r" b="b" t="t" l="l"/>
              <a:pathLst>
                <a:path h="6354" w="5400045">
                  <a:moveTo>
                    <a:pt x="0" y="0"/>
                  </a:moveTo>
                  <a:lnTo>
                    <a:pt x="5400045" y="0"/>
                  </a:lnTo>
                  <a:lnTo>
                    <a:pt x="5400045" y="6354"/>
                  </a:lnTo>
                  <a:lnTo>
                    <a:pt x="0" y="6354"/>
                  </a:lnTo>
                  <a:close/>
                </a:path>
              </a:pathLst>
            </a:custGeom>
            <a:solidFill>
              <a:srgbClr val="989899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91973" y="631631"/>
            <a:ext cx="1594275" cy="23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Airway Dilation Catheter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8910" y="7599293"/>
            <a:ext cx="530933" cy="161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8"/>
              </a:lnSpc>
            </a:pPr>
            <a:r>
              <a:rPr lang="en-US" sz="1000" spc="3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BC0524A BC0724A BC0924A BC1040A BC1240A BC1440A BC1640A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1467" y="7315267"/>
            <a:ext cx="959501" cy="21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Catalog Number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53410" y="7592720"/>
            <a:ext cx="137827" cy="16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5 7 9 10 12 14 16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1633" y="3248635"/>
            <a:ext cx="2587304" cy="2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Low-prole system crosses narrow stenoses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633" y="3416084"/>
            <a:ext cx="3436544" cy="5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Soft seeker tip guides device through delicate anatomy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5E97CE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Precise placement under direct visualization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7854" y="7312857"/>
            <a:ext cx="1328042" cy="21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Balloon Diameter (mm)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1633" y="2670610"/>
            <a:ext cx="3729714" cy="60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Custom balloon catheter and stylet optimized for airway anatomy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5E97CE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Atraumatic access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633" y="3964496"/>
            <a:ext cx="3734381" cy="2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Integrated stylet provides enhanced support and maneuverability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1633" y="4131945"/>
            <a:ext cx="3198857" cy="5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Malleable shaft can be custom-shaped for easy access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5E97CE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Controlled radial dilation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20695" y="7595264"/>
            <a:ext cx="137827" cy="161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24 24 24 40 40 40 40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1633" y="4681252"/>
            <a:ext cx="3575437" cy="2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Durable high pressure balloon engineered for resistant lesions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1633" y="4848701"/>
            <a:ext cx="4493609" cy="2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Non-compliant design maintains consistent diameter through multiple dilations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1633" y="5016151"/>
            <a:ext cx="2348951" cy="20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• Precise ination and pressure regulation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13927" y="7312857"/>
            <a:ext cx="1207446" cy="21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Balloon Length (mm)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35801" y="3387042"/>
            <a:ext cx="638613" cy="3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Atraumatic access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58108" y="5250999"/>
            <a:ext cx="587854" cy="18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controlled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64801" y="5403218"/>
            <a:ext cx="743693" cy="18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radial dilation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90133" y="7592720"/>
            <a:ext cx="68913" cy="1610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8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5 5 5 5 5 5 5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20411" y="7312857"/>
            <a:ext cx="824655" cy="21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Units (per box)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15875" y="3389452"/>
            <a:ext cx="736044" cy="3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Safe, accure placement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52003" y="5253409"/>
            <a:ext cx="629307" cy="18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Consistent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10745" y="5405628"/>
            <a:ext cx="1086841" cy="18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dilation of strictures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8626" y="1080021"/>
            <a:ext cx="6997903" cy="160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0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The Metic™ Balloon Dilation System is designed to safely dilate airway strictures with minimal mucosal trauma. Developed in partnership with ENT Surgeons, the Metic™ offers an safe, elegant, minimally invasive solution for airway management.</a:t>
            </a:r>
          </a:p>
          <a:p>
            <a:pPr algn="l">
              <a:lnSpc>
                <a:spcPts val="2158"/>
              </a:lnSpc>
            </a:pPr>
            <a:r>
              <a:rPr lang="en-US" sz="1800">
                <a:solidFill>
                  <a:srgbClr val="5E97CE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Patient safety is our commitment. The Metic™ delivers: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5E97CE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A product specically designed for the airway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88513" y="9781213"/>
            <a:ext cx="5372405" cy="53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"/>
              </a:lnSpc>
            </a:pPr>
            <a:r>
              <a:rPr lang="en-US" b="true" sz="1100">
                <a:solidFill>
                  <a:srgbClr val="FFFFFF"/>
                </a:solidFill>
                <a:latin typeface="Swiss 721 Devanagari Bold"/>
                <a:ea typeface="Swiss 721 Devanagari Bold"/>
                <a:cs typeface="Swiss 721 Devanagari Bold"/>
                <a:sym typeface="Swiss 721 Devanagari Bold"/>
              </a:rPr>
              <a:t>Meril Life Sciences India Pvt. Ltd. </a:t>
            </a:r>
            <a:r>
              <a:rPr lang="en-US" sz="1100">
                <a:solidFill>
                  <a:srgbClr val="FFFFFF"/>
                </a:solidFill>
                <a:latin typeface="Swiss 721 Devanagari Light"/>
                <a:ea typeface="Swiss 721 Devanagari Light"/>
                <a:cs typeface="Swiss 721 Devanagari Light"/>
                <a:sym typeface="Swiss 721 Devanagari Light"/>
              </a:rPr>
              <a:t> 512/513, Midas Tower, Sahar Plaza, Andheri (E), Mumbai - 400 059, Maharashtra, India T +91 22 4047 9797 F +91 22 4047 9717 W: www.merillife.com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51314" y="1709576"/>
            <a:ext cx="2182492" cy="27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14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Airway Balloon Dilation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DAHE9QWhsGY</dc:identifier>
  <dcterms:modified xsi:type="dcterms:W3CDTF">2011-08-01T06:04:30Z</dcterms:modified>
  <cp:revision>1</cp:revision>
  <dc:title>Metic Brochure.pdf</dc:title>
</cp:coreProperties>
</file>