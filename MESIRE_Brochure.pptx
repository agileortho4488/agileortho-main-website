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Lst>
  <p:sldSz cx="7556500" cy="10693400"/>
  <p:notesSz cx="6858000" cy="9144000"/>
  <p:embeddedFontLst>
    <p:embeddedFont>
      <p:font typeface="IBM Plex Sans" charset="1" panose="020B0503050203000203"/>
      <p:regular r:id="rId12"/>
    </p:embeddedFont>
    <p:embeddedFont>
      <p:font typeface="Swiss 721 Devanagari Bold" charset="1" panose="020B0803020202020204"/>
      <p:regular r:id="rId13"/>
    </p:embeddedFont>
    <p:embeddedFont>
      <p:font typeface="Swiss 721 Devanagari Light" charset="1" panose="020B0303020202020204"/>
      <p:regular r:id="rId14"/>
    </p:embeddedFont>
    <p:embeddedFont>
      <p:font typeface="Swiss 721 Devanagari" charset="1" panose="020B0503020202020204"/>
      <p:regular r:id="rId15"/>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fonts/font12.fntdata" Type="http://schemas.openxmlformats.org/officeDocument/2006/relationships/font"/><Relationship Id="rId13" Target="fonts/font13.fntdata" Type="http://schemas.openxmlformats.org/officeDocument/2006/relationships/font"/><Relationship Id="rId14" Target="fonts/font14.fntdata" Type="http://schemas.openxmlformats.org/officeDocument/2006/relationships/font"/><Relationship Id="rId15" Target="fonts/font15.fntdata" Type="http://schemas.openxmlformats.org/officeDocument/2006/relationships/font"/><Relationship Id="rId2" Target="presProps.xml" Type="http://schemas.openxmlformats.org/officeDocument/2006/relationships/presProps"/><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jpeg" Type="http://schemas.openxmlformats.org/officeDocument/2006/relationships/image"/><Relationship Id="rId5" Target="../media/image4.png" Type="http://schemas.openxmlformats.org/officeDocument/2006/relationships/image"/><Relationship Id="rId6" Target="../media/image5.sv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jpeg" Type="http://schemas.openxmlformats.org/officeDocument/2006/relationships/image"/><Relationship Id="rId3" Target="../media/image7.png" Type="http://schemas.openxmlformats.org/officeDocument/2006/relationships/image"/><Relationship Id="rId4" Target="../media/image8.sv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9.png" Type="http://schemas.openxmlformats.org/officeDocument/2006/relationships/image"/><Relationship Id="rId3" Target="../media/image10.svg" Type="http://schemas.openxmlformats.org/officeDocument/2006/relationships/image"/><Relationship Id="rId4" Target="../media/image11.jpeg" Type="http://schemas.openxmlformats.org/officeDocument/2006/relationships/image"/><Relationship Id="rId5" Target="../media/image12.jpeg" Type="http://schemas.openxmlformats.org/officeDocument/2006/relationships/image"/><Relationship Id="rId6" Target="../media/image13.jpeg" Type="http://schemas.openxmlformats.org/officeDocument/2006/relationships/image"/><Relationship Id="rId7" Target="../media/image14.jpe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23.svg" Type="http://schemas.openxmlformats.org/officeDocument/2006/relationships/image"/><Relationship Id="rId11" Target="../media/image24.png" Type="http://schemas.openxmlformats.org/officeDocument/2006/relationships/image"/><Relationship Id="rId12" Target="../media/image25.png" Type="http://schemas.openxmlformats.org/officeDocument/2006/relationships/image"/><Relationship Id="rId13" Target="../media/image26.svg" Type="http://schemas.openxmlformats.org/officeDocument/2006/relationships/image"/><Relationship Id="rId14" Target="../media/image27.png" Type="http://schemas.openxmlformats.org/officeDocument/2006/relationships/image"/><Relationship Id="rId15" Target="../media/image28.svg" Type="http://schemas.openxmlformats.org/officeDocument/2006/relationships/image"/><Relationship Id="rId2" Target="../media/image15.png" Type="http://schemas.openxmlformats.org/officeDocument/2006/relationships/image"/><Relationship Id="rId3" Target="../media/image16.png" Type="http://schemas.openxmlformats.org/officeDocument/2006/relationships/image"/><Relationship Id="rId4" Target="../media/image17.svg" Type="http://schemas.openxmlformats.org/officeDocument/2006/relationships/image"/><Relationship Id="rId5" Target="../media/image18.png" Type="http://schemas.openxmlformats.org/officeDocument/2006/relationships/image"/><Relationship Id="rId6" Target="../media/image19.png" Type="http://schemas.openxmlformats.org/officeDocument/2006/relationships/image"/><Relationship Id="rId7" Target="../media/image20.svg" Type="http://schemas.openxmlformats.org/officeDocument/2006/relationships/image"/><Relationship Id="rId8" Target="../media/image21.png" Type="http://schemas.openxmlformats.org/officeDocument/2006/relationships/image"/><Relationship Id="rId9" Target="../media/image22.sv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37.png" Type="http://schemas.openxmlformats.org/officeDocument/2006/relationships/image"/><Relationship Id="rId11" Target="../media/image38.svg" Type="http://schemas.openxmlformats.org/officeDocument/2006/relationships/image"/><Relationship Id="rId2" Target="../media/image29.png" Type="http://schemas.openxmlformats.org/officeDocument/2006/relationships/image"/><Relationship Id="rId3" Target="../media/image30.svg" Type="http://schemas.openxmlformats.org/officeDocument/2006/relationships/image"/><Relationship Id="rId4" Target="../media/image31.png" Type="http://schemas.openxmlformats.org/officeDocument/2006/relationships/image"/><Relationship Id="rId5" Target="../media/image32.png" Type="http://schemas.openxmlformats.org/officeDocument/2006/relationships/image"/><Relationship Id="rId6" Target="../media/image33.png" Type="http://schemas.openxmlformats.org/officeDocument/2006/relationships/image"/><Relationship Id="rId7" Target="../media/image34.svg" Type="http://schemas.openxmlformats.org/officeDocument/2006/relationships/image"/><Relationship Id="rId8" Target="../media/image35.png" Type="http://schemas.openxmlformats.org/officeDocument/2006/relationships/image"/><Relationship Id="rId9" Target="../media/image36.sv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9.png" Type="http://schemas.openxmlformats.org/officeDocument/2006/relationships/image"/><Relationship Id="rId3" Target="../media/image40.svg" Type="http://schemas.openxmlformats.org/officeDocument/2006/relationships/image"/><Relationship Id="rId4" Target="../media/image41.png" Type="http://schemas.openxmlformats.org/officeDocument/2006/relationships/image"/><Relationship Id="rId5" Target="../media/image42.jpe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7577814"/>
            <a:ext cx="7557440" cy="2618356"/>
          </a:xfrm>
          <a:custGeom>
            <a:avLst/>
            <a:gdLst/>
            <a:ahLst/>
            <a:cxnLst/>
            <a:rect r="r" b="b" t="t" l="l"/>
            <a:pathLst>
              <a:path h="2618356" w="7557440">
                <a:moveTo>
                  <a:pt x="0" y="0"/>
                </a:moveTo>
                <a:lnTo>
                  <a:pt x="7557440" y="0"/>
                </a:lnTo>
                <a:lnTo>
                  <a:pt x="7557440" y="2618356"/>
                </a:lnTo>
                <a:lnTo>
                  <a:pt x="0" y="261835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0" y="200"/>
            <a:ext cx="7557440" cy="7511253"/>
            <a:chOff x="0" y="0"/>
            <a:chExt cx="10076586" cy="10015004"/>
          </a:xfrm>
        </p:grpSpPr>
        <p:sp>
          <p:nvSpPr>
            <p:cNvPr name="Freeform 4" id="4"/>
            <p:cNvSpPr/>
            <p:nvPr/>
          </p:nvSpPr>
          <p:spPr>
            <a:xfrm flipH="false" flipV="false" rot="0">
              <a:off x="0" y="0"/>
              <a:ext cx="10076561" cy="10014966"/>
            </a:xfrm>
            <a:custGeom>
              <a:avLst/>
              <a:gdLst/>
              <a:ahLst/>
              <a:cxnLst/>
              <a:rect r="r" b="b" t="t" l="l"/>
              <a:pathLst>
                <a:path h="10014966" w="10076561">
                  <a:moveTo>
                    <a:pt x="0" y="0"/>
                  </a:moveTo>
                  <a:lnTo>
                    <a:pt x="10076561" y="0"/>
                  </a:lnTo>
                  <a:lnTo>
                    <a:pt x="10076561" y="10014966"/>
                  </a:lnTo>
                  <a:lnTo>
                    <a:pt x="0" y="10014966"/>
                  </a:lnTo>
                  <a:lnTo>
                    <a:pt x="0" y="0"/>
                  </a:lnTo>
                  <a:close/>
                </a:path>
              </a:pathLst>
            </a:custGeom>
            <a:blipFill>
              <a:blip r:embed="rId4"/>
              <a:stretch>
                <a:fillRect l="0" t="0" r="-13" b="0"/>
              </a:stretch>
            </a:blipFill>
          </p:spPr>
        </p:sp>
      </p:grpSp>
      <p:sp>
        <p:nvSpPr>
          <p:cNvPr name="Freeform 5" id="5"/>
          <p:cNvSpPr/>
          <p:nvPr/>
        </p:nvSpPr>
        <p:spPr>
          <a:xfrm flipH="false" flipV="false" rot="0">
            <a:off x="-63503" y="-63503"/>
            <a:ext cx="7686027" cy="10819000"/>
          </a:xfrm>
          <a:custGeom>
            <a:avLst/>
            <a:gdLst/>
            <a:ahLst/>
            <a:cxnLst/>
            <a:rect r="r" b="b" t="t" l="l"/>
            <a:pathLst>
              <a:path h="10819000" w="7686027">
                <a:moveTo>
                  <a:pt x="0" y="0"/>
                </a:moveTo>
                <a:lnTo>
                  <a:pt x="7686027" y="0"/>
                </a:lnTo>
                <a:lnTo>
                  <a:pt x="7686027" y="10819000"/>
                </a:lnTo>
                <a:lnTo>
                  <a:pt x="0" y="10819000"/>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TextBox 6" id="6"/>
          <p:cNvSpPr txBox="true"/>
          <p:nvPr/>
        </p:nvSpPr>
        <p:spPr>
          <a:xfrm rot="0">
            <a:off x="2106978" y="7754893"/>
            <a:ext cx="151886" cy="173336"/>
          </a:xfrm>
          <a:prstGeom prst="rect">
            <a:avLst/>
          </a:prstGeom>
        </p:spPr>
        <p:txBody>
          <a:bodyPr anchor="t" rtlCol="false" tIns="0" lIns="0" bIns="0" rIns="0">
            <a:spAutoFit/>
          </a:bodyPr>
          <a:lstStyle/>
          <a:p>
            <a:pPr algn="l">
              <a:lnSpc>
                <a:spcPts val="1565"/>
              </a:lnSpc>
            </a:pPr>
            <a:r>
              <a:rPr lang="en-US" sz="699" spc="-7">
                <a:solidFill>
                  <a:srgbClr val="313130"/>
                </a:solidFill>
                <a:latin typeface="IBM Plex Sans"/>
                <a:ea typeface="IBM Plex Sans"/>
                <a:cs typeface="IBM Plex Sans"/>
                <a:sym typeface="IBM Plex Sans"/>
              </a:rPr>
              <a:t>TM </a:t>
            </a:r>
          </a:p>
        </p:txBody>
      </p:sp>
      <p:sp>
        <p:nvSpPr>
          <p:cNvPr name="TextBox 7" id="7"/>
          <p:cNvSpPr txBox="true"/>
          <p:nvPr/>
        </p:nvSpPr>
        <p:spPr>
          <a:xfrm rot="0">
            <a:off x="339595" y="7192175"/>
            <a:ext cx="1802882" cy="1405109"/>
          </a:xfrm>
          <a:prstGeom prst="rect">
            <a:avLst/>
          </a:prstGeom>
        </p:spPr>
        <p:txBody>
          <a:bodyPr anchor="t" rtlCol="false" tIns="0" lIns="0" bIns="0" rIns="0">
            <a:spAutoFit/>
          </a:bodyPr>
          <a:lstStyle/>
          <a:p>
            <a:pPr algn="l">
              <a:lnSpc>
                <a:spcPts val="8053"/>
              </a:lnSpc>
            </a:pPr>
            <a:r>
              <a:rPr lang="en-US" b="true" sz="3600">
                <a:solidFill>
                  <a:srgbClr val="313130"/>
                </a:solidFill>
                <a:latin typeface="Swiss 721 Devanagari Bold"/>
                <a:ea typeface="Swiss 721 Devanagari Bold"/>
                <a:cs typeface="Swiss 721 Devanagari Bold"/>
                <a:sym typeface="Swiss 721 Devanagari Bold"/>
              </a:rPr>
              <a:t>MESIRE</a:t>
            </a:r>
            <a:r>
              <a:rPr lang="en-US" sz="3600">
                <a:solidFill>
                  <a:srgbClr val="313130"/>
                </a:solidFill>
                <a:latin typeface="Swiss 721 Devanagari Light"/>
                <a:ea typeface="Swiss 721 Devanagari Light"/>
                <a:cs typeface="Swiss 721 Devanagari Light"/>
                <a:sym typeface="Swiss 721 Devanagari Light"/>
              </a:rPr>
              <a:t> </a:t>
            </a:r>
          </a:p>
        </p:txBody>
      </p:sp>
      <p:sp>
        <p:nvSpPr>
          <p:cNvPr name="TextBox 8" id="8"/>
          <p:cNvSpPr txBox="true"/>
          <p:nvPr/>
        </p:nvSpPr>
        <p:spPr>
          <a:xfrm rot="0">
            <a:off x="349044" y="8165401"/>
            <a:ext cx="3992213" cy="487375"/>
          </a:xfrm>
          <a:prstGeom prst="rect">
            <a:avLst/>
          </a:prstGeom>
        </p:spPr>
        <p:txBody>
          <a:bodyPr anchor="t" rtlCol="false" tIns="0" lIns="0" bIns="0" rIns="0">
            <a:spAutoFit/>
          </a:bodyPr>
          <a:lstStyle/>
          <a:p>
            <a:pPr algn="l">
              <a:lnSpc>
                <a:spcPts val="3359"/>
              </a:lnSpc>
            </a:pPr>
            <a:r>
              <a:rPr lang="en-US" sz="2400">
                <a:solidFill>
                  <a:srgbClr val="313130"/>
                </a:solidFill>
                <a:latin typeface="Swiss 721 Devanagari Light"/>
                <a:ea typeface="Swiss 721 Devanagari Light"/>
                <a:cs typeface="Swiss 721 Devanagari Light"/>
                <a:sym typeface="Swiss 721 Devanagari Light"/>
              </a:rPr>
              <a:t>BalloonSinusDilation System</a:t>
            </a:r>
          </a:p>
        </p:txBody>
      </p:sp>
      <p:sp>
        <p:nvSpPr>
          <p:cNvPr name="TextBox 9" id="9"/>
          <p:cNvSpPr txBox="true"/>
          <p:nvPr/>
        </p:nvSpPr>
        <p:spPr>
          <a:xfrm rot="0">
            <a:off x="337947" y="1647501"/>
            <a:ext cx="2241052" cy="3185017"/>
          </a:xfrm>
          <a:prstGeom prst="rect">
            <a:avLst/>
          </a:prstGeom>
        </p:spPr>
        <p:txBody>
          <a:bodyPr anchor="t" rtlCol="false" tIns="0" lIns="0" bIns="0" rIns="0">
            <a:spAutoFit/>
          </a:bodyPr>
          <a:lstStyle/>
          <a:p>
            <a:pPr algn="l">
              <a:lnSpc>
                <a:spcPts val="7830"/>
              </a:lnSpc>
            </a:pPr>
            <a:r>
              <a:rPr lang="en-US" sz="6530">
                <a:solidFill>
                  <a:srgbClr val="4E4E4D"/>
                </a:solidFill>
                <a:latin typeface="Swiss 721 Devanagari Light"/>
                <a:ea typeface="Swiss 721 Devanagari Light"/>
                <a:cs typeface="Swiss 721 Devanagari Light"/>
                <a:sym typeface="Swiss 721 Devanagari Light"/>
              </a:rPr>
              <a:t>Meril Sinus Relief</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134389" y="2320709"/>
            <a:ext cx="5286080" cy="2144725"/>
            <a:chOff x="0" y="0"/>
            <a:chExt cx="7048106" cy="2859634"/>
          </a:xfrm>
        </p:grpSpPr>
        <p:sp>
          <p:nvSpPr>
            <p:cNvPr name="Freeform 3" id="3"/>
            <p:cNvSpPr/>
            <p:nvPr/>
          </p:nvSpPr>
          <p:spPr>
            <a:xfrm flipH="false" flipV="false" rot="0">
              <a:off x="0" y="0"/>
              <a:ext cx="7048119" cy="2859659"/>
            </a:xfrm>
            <a:custGeom>
              <a:avLst/>
              <a:gdLst/>
              <a:ahLst/>
              <a:cxnLst/>
              <a:rect r="r" b="b" t="t" l="l"/>
              <a:pathLst>
                <a:path h="2859659" w="7048119">
                  <a:moveTo>
                    <a:pt x="0" y="0"/>
                  </a:moveTo>
                  <a:lnTo>
                    <a:pt x="7048119" y="0"/>
                  </a:lnTo>
                  <a:lnTo>
                    <a:pt x="7048119" y="2859659"/>
                  </a:lnTo>
                  <a:lnTo>
                    <a:pt x="0" y="2859659"/>
                  </a:lnTo>
                  <a:lnTo>
                    <a:pt x="0" y="0"/>
                  </a:lnTo>
                  <a:close/>
                </a:path>
              </a:pathLst>
            </a:custGeom>
            <a:blipFill>
              <a:blip r:embed="rId2"/>
              <a:stretch>
                <a:fillRect l="0" t="0" r="0" b="0"/>
              </a:stretch>
            </a:blipFill>
          </p:spPr>
        </p:sp>
      </p:grpSp>
      <p:sp>
        <p:nvSpPr>
          <p:cNvPr name="Freeform 4" id="4"/>
          <p:cNvSpPr/>
          <p:nvPr/>
        </p:nvSpPr>
        <p:spPr>
          <a:xfrm flipH="false" flipV="false" rot="0">
            <a:off x="-63503" y="-63503"/>
            <a:ext cx="7686027" cy="10819000"/>
          </a:xfrm>
          <a:custGeom>
            <a:avLst/>
            <a:gdLst/>
            <a:ahLst/>
            <a:cxnLst/>
            <a:rect r="r" b="b" t="t" l="l"/>
            <a:pathLst>
              <a:path h="10819000" w="7686027">
                <a:moveTo>
                  <a:pt x="0" y="0"/>
                </a:moveTo>
                <a:lnTo>
                  <a:pt x="7686027" y="0"/>
                </a:lnTo>
                <a:lnTo>
                  <a:pt x="7686027" y="10819000"/>
                </a:lnTo>
                <a:lnTo>
                  <a:pt x="0" y="1081900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5" id="5"/>
          <p:cNvSpPr txBox="true"/>
          <p:nvPr/>
        </p:nvSpPr>
        <p:spPr>
          <a:xfrm rot="0">
            <a:off x="904961" y="2583485"/>
            <a:ext cx="555860" cy="354216"/>
          </a:xfrm>
          <a:prstGeom prst="rect">
            <a:avLst/>
          </a:prstGeom>
        </p:spPr>
        <p:txBody>
          <a:bodyPr anchor="t" rtlCol="false" tIns="0" lIns="0" bIns="0" rIns="0">
            <a:spAutoFit/>
          </a:bodyPr>
          <a:lstStyle/>
          <a:p>
            <a:pPr algn="r">
              <a:lnSpc>
                <a:spcPts val="979"/>
              </a:lnSpc>
            </a:pPr>
            <a:r>
              <a:rPr lang="en-US" sz="699">
                <a:solidFill>
                  <a:srgbClr val="4E4E4D"/>
                </a:solidFill>
                <a:latin typeface="Swiss 721 Devanagari Light"/>
                <a:ea typeface="Swiss 721 Devanagari Light"/>
                <a:cs typeface="Swiss 721 Devanagari Light"/>
                <a:sym typeface="Swiss 721 Devanagari Light"/>
              </a:rPr>
              <a:t>Frontal sinus Ethmoid sinus</a:t>
            </a:r>
          </a:p>
        </p:txBody>
      </p:sp>
      <p:sp>
        <p:nvSpPr>
          <p:cNvPr name="TextBox 6" id="6"/>
          <p:cNvSpPr txBox="true"/>
          <p:nvPr/>
        </p:nvSpPr>
        <p:spPr>
          <a:xfrm rot="0">
            <a:off x="893578" y="3438296"/>
            <a:ext cx="567461" cy="137789"/>
          </a:xfrm>
          <a:prstGeom prst="rect">
            <a:avLst/>
          </a:prstGeom>
        </p:spPr>
        <p:txBody>
          <a:bodyPr anchor="t" rtlCol="false" tIns="0" lIns="0" bIns="0" rIns="0">
            <a:spAutoFit/>
          </a:bodyPr>
          <a:lstStyle/>
          <a:p>
            <a:pPr algn="l">
              <a:lnSpc>
                <a:spcPts val="979"/>
              </a:lnSpc>
            </a:pPr>
            <a:r>
              <a:rPr lang="en-US" sz="699">
                <a:solidFill>
                  <a:srgbClr val="4E4E4D"/>
                </a:solidFill>
                <a:latin typeface="Swiss 721 Devanagari Light"/>
                <a:ea typeface="Swiss 721 Devanagari Light"/>
                <a:cs typeface="Swiss 721 Devanagari Light"/>
                <a:sym typeface="Swiss 721 Devanagari Light"/>
              </a:rPr>
              <a:t>Maxillary sinus</a:t>
            </a:r>
          </a:p>
        </p:txBody>
      </p:sp>
      <p:sp>
        <p:nvSpPr>
          <p:cNvPr name="TextBox 7" id="7"/>
          <p:cNvSpPr txBox="true"/>
          <p:nvPr/>
        </p:nvSpPr>
        <p:spPr>
          <a:xfrm rot="0">
            <a:off x="856526" y="3243805"/>
            <a:ext cx="605276" cy="137789"/>
          </a:xfrm>
          <a:prstGeom prst="rect">
            <a:avLst/>
          </a:prstGeom>
        </p:spPr>
        <p:txBody>
          <a:bodyPr anchor="t" rtlCol="false" tIns="0" lIns="0" bIns="0" rIns="0">
            <a:spAutoFit/>
          </a:bodyPr>
          <a:lstStyle/>
          <a:p>
            <a:pPr algn="r">
              <a:lnSpc>
                <a:spcPts val="979"/>
              </a:lnSpc>
            </a:pPr>
            <a:r>
              <a:rPr lang="en-US" sz="699">
                <a:solidFill>
                  <a:srgbClr val="4E4E4D"/>
                </a:solidFill>
                <a:latin typeface="Swiss 721 Devanagari Light"/>
                <a:ea typeface="Swiss 721 Devanagari Light"/>
                <a:cs typeface="Swiss 721 Devanagari Light"/>
                <a:sym typeface="Swiss 721 Devanagari Light"/>
              </a:rPr>
              <a:t>Sphenoid sinus</a:t>
            </a:r>
          </a:p>
        </p:txBody>
      </p:sp>
      <p:sp>
        <p:nvSpPr>
          <p:cNvPr name="TextBox 8" id="8"/>
          <p:cNvSpPr txBox="true"/>
          <p:nvPr/>
        </p:nvSpPr>
        <p:spPr>
          <a:xfrm rot="0">
            <a:off x="6032906" y="2583485"/>
            <a:ext cx="555860" cy="372523"/>
          </a:xfrm>
          <a:prstGeom prst="rect">
            <a:avLst/>
          </a:prstGeom>
        </p:spPr>
        <p:txBody>
          <a:bodyPr anchor="t" rtlCol="false" tIns="0" lIns="0" bIns="0" rIns="0">
            <a:spAutoFit/>
          </a:bodyPr>
          <a:lstStyle/>
          <a:p>
            <a:pPr algn="l">
              <a:lnSpc>
                <a:spcPts val="979"/>
              </a:lnSpc>
            </a:pPr>
            <a:r>
              <a:rPr lang="en-US" sz="699">
                <a:solidFill>
                  <a:srgbClr val="4E4E4D"/>
                </a:solidFill>
                <a:latin typeface="Swiss 721 Devanagari Light"/>
                <a:ea typeface="Swiss 721 Devanagari Light"/>
                <a:cs typeface="Swiss 721 Devanagari Light"/>
                <a:sym typeface="Swiss 721 Devanagari Light"/>
              </a:rPr>
              <a:t>Frontal sinus Ethmoid sinus</a:t>
            </a:r>
          </a:p>
        </p:txBody>
      </p:sp>
      <p:sp>
        <p:nvSpPr>
          <p:cNvPr name="TextBox 9" id="9"/>
          <p:cNvSpPr txBox="true"/>
          <p:nvPr/>
        </p:nvSpPr>
        <p:spPr>
          <a:xfrm rot="0">
            <a:off x="6033011" y="3430991"/>
            <a:ext cx="567461" cy="137789"/>
          </a:xfrm>
          <a:prstGeom prst="rect">
            <a:avLst/>
          </a:prstGeom>
        </p:spPr>
        <p:txBody>
          <a:bodyPr anchor="t" rtlCol="false" tIns="0" lIns="0" bIns="0" rIns="0">
            <a:spAutoFit/>
          </a:bodyPr>
          <a:lstStyle/>
          <a:p>
            <a:pPr algn="l">
              <a:lnSpc>
                <a:spcPts val="979"/>
              </a:lnSpc>
            </a:pPr>
            <a:r>
              <a:rPr lang="en-US" sz="699">
                <a:solidFill>
                  <a:srgbClr val="4E4E4D"/>
                </a:solidFill>
                <a:latin typeface="Swiss 721 Devanagari Light"/>
                <a:ea typeface="Swiss 721 Devanagari Light"/>
                <a:cs typeface="Swiss 721 Devanagari Light"/>
                <a:sym typeface="Swiss 721 Devanagari Light"/>
              </a:rPr>
              <a:t>Maxillary sinus</a:t>
            </a:r>
          </a:p>
        </p:txBody>
      </p:sp>
      <p:sp>
        <p:nvSpPr>
          <p:cNvPr name="TextBox 10" id="10"/>
          <p:cNvSpPr txBox="true"/>
          <p:nvPr/>
        </p:nvSpPr>
        <p:spPr>
          <a:xfrm rot="0">
            <a:off x="6035945" y="3222203"/>
            <a:ext cx="605276" cy="137789"/>
          </a:xfrm>
          <a:prstGeom prst="rect">
            <a:avLst/>
          </a:prstGeom>
        </p:spPr>
        <p:txBody>
          <a:bodyPr anchor="t" rtlCol="false" tIns="0" lIns="0" bIns="0" rIns="0">
            <a:spAutoFit/>
          </a:bodyPr>
          <a:lstStyle/>
          <a:p>
            <a:pPr algn="l">
              <a:lnSpc>
                <a:spcPts val="979"/>
              </a:lnSpc>
            </a:pPr>
            <a:r>
              <a:rPr lang="en-US" sz="699">
                <a:solidFill>
                  <a:srgbClr val="4E4E4D"/>
                </a:solidFill>
                <a:latin typeface="Swiss 721 Devanagari Light"/>
                <a:ea typeface="Swiss 721 Devanagari Light"/>
                <a:cs typeface="Swiss 721 Devanagari Light"/>
                <a:sym typeface="Swiss 721 Devanagari Light"/>
              </a:rPr>
              <a:t>Sphenoid sinus</a:t>
            </a:r>
          </a:p>
        </p:txBody>
      </p:sp>
      <p:sp>
        <p:nvSpPr>
          <p:cNvPr name="TextBox 11" id="11"/>
          <p:cNvSpPr txBox="true"/>
          <p:nvPr/>
        </p:nvSpPr>
        <p:spPr>
          <a:xfrm rot="0">
            <a:off x="682085" y="7950013"/>
            <a:ext cx="1593085" cy="944356"/>
          </a:xfrm>
          <a:prstGeom prst="rect">
            <a:avLst/>
          </a:prstGeom>
        </p:spPr>
        <p:txBody>
          <a:bodyPr anchor="t" rtlCol="false" tIns="0" lIns="0" bIns="0" rIns="0">
            <a:spAutoFit/>
          </a:bodyPr>
          <a:lstStyle/>
          <a:p>
            <a:pPr algn="l">
              <a:lnSpc>
                <a:spcPts val="1199"/>
              </a:lnSpc>
            </a:pPr>
            <a:r>
              <a:rPr lang="en-US" sz="1000">
                <a:solidFill>
                  <a:srgbClr val="FFFFFF"/>
                </a:solidFill>
                <a:latin typeface="Swiss 721 Devanagari Light"/>
                <a:ea typeface="Swiss 721 Devanagari Light"/>
                <a:cs typeface="Swiss 721 Devanagari Light"/>
                <a:sym typeface="Swiss 721 Devanagari Light"/>
              </a:rPr>
              <a:t>- Less invasive - Less trauma - Less pain - Less recovery time - Less scaring - Less follow-up procedures </a:t>
            </a:r>
          </a:p>
        </p:txBody>
      </p:sp>
      <p:sp>
        <p:nvSpPr>
          <p:cNvPr name="TextBox 12" id="12"/>
          <p:cNvSpPr txBox="true"/>
          <p:nvPr/>
        </p:nvSpPr>
        <p:spPr>
          <a:xfrm rot="0">
            <a:off x="682085" y="6196698"/>
            <a:ext cx="2546242" cy="487670"/>
          </a:xfrm>
          <a:prstGeom prst="rect">
            <a:avLst/>
          </a:prstGeom>
        </p:spPr>
        <p:txBody>
          <a:bodyPr anchor="t" rtlCol="false" tIns="0" lIns="0" bIns="0" rIns="0">
            <a:spAutoFit/>
          </a:bodyPr>
          <a:lstStyle/>
          <a:p>
            <a:pPr algn="l">
              <a:lnSpc>
                <a:spcPts val="1199"/>
              </a:lnSpc>
            </a:pPr>
            <a:r>
              <a:rPr lang="en-US" sz="1000">
                <a:solidFill>
                  <a:srgbClr val="FFFFFF"/>
                </a:solidFill>
                <a:latin typeface="Swiss 721 Devanagari Light"/>
                <a:ea typeface="Swiss 721 Devanagari Light"/>
                <a:cs typeface="Swiss 721 Devanagari Light"/>
                <a:sym typeface="Swiss 721 Devanagari Light"/>
              </a:rPr>
              <a:t>- Safe design (eg. atraumatic tip) - Zero adverse events - Less general anesthesia time and necessity </a:t>
            </a:r>
          </a:p>
        </p:txBody>
      </p:sp>
      <p:sp>
        <p:nvSpPr>
          <p:cNvPr name="TextBox 13" id="13"/>
          <p:cNvSpPr txBox="true"/>
          <p:nvPr/>
        </p:nvSpPr>
        <p:spPr>
          <a:xfrm rot="0">
            <a:off x="3982212" y="7950013"/>
            <a:ext cx="2743914" cy="487680"/>
          </a:xfrm>
          <a:prstGeom prst="rect">
            <a:avLst/>
          </a:prstGeom>
        </p:spPr>
        <p:txBody>
          <a:bodyPr anchor="t" rtlCol="false" tIns="0" lIns="0" bIns="0" rIns="0">
            <a:spAutoFit/>
          </a:bodyPr>
          <a:lstStyle/>
          <a:p>
            <a:pPr algn="l">
              <a:lnSpc>
                <a:spcPts val="1199"/>
              </a:lnSpc>
            </a:pPr>
            <a:r>
              <a:rPr lang="en-US" sz="1000">
                <a:solidFill>
                  <a:srgbClr val="FFFFFF"/>
                </a:solidFill>
                <a:latin typeface="Swiss 721 Devanagari Light"/>
                <a:ea typeface="Swiss 721 Devanagari Light"/>
                <a:cs typeface="Swiss 721 Devanagari Light"/>
                <a:sym typeface="Swiss 721 Devanagari Light"/>
              </a:rPr>
              <a:t>- Find and treat the frontal sinus/recess - Help special case patients (eg. bleeders, ICU) - May enable paradigm shift to local anaesthesia </a:t>
            </a:r>
          </a:p>
        </p:txBody>
      </p:sp>
      <p:sp>
        <p:nvSpPr>
          <p:cNvPr name="TextBox 14" id="14"/>
          <p:cNvSpPr txBox="true"/>
          <p:nvPr/>
        </p:nvSpPr>
        <p:spPr>
          <a:xfrm rot="0">
            <a:off x="3960457" y="6194288"/>
            <a:ext cx="2977867" cy="1096566"/>
          </a:xfrm>
          <a:prstGeom prst="rect">
            <a:avLst/>
          </a:prstGeom>
        </p:spPr>
        <p:txBody>
          <a:bodyPr anchor="t" rtlCol="false" tIns="0" lIns="0" bIns="0" rIns="0">
            <a:spAutoFit/>
          </a:bodyPr>
          <a:lstStyle/>
          <a:p>
            <a:pPr algn="l">
              <a:lnSpc>
                <a:spcPts val="1199"/>
              </a:lnSpc>
            </a:pPr>
            <a:r>
              <a:rPr lang="en-US" sz="1000">
                <a:solidFill>
                  <a:srgbClr val="FFFFFF"/>
                </a:solidFill>
                <a:latin typeface="Swiss 721 Devanagari Light"/>
                <a:ea typeface="Swiss 721 Devanagari Light"/>
                <a:cs typeface="Swiss 721 Devanagari Light"/>
                <a:sym typeface="Swiss 721 Devanagari Light"/>
              </a:rPr>
              <a:t>- Patency:  Extremely low patency &amp; revision rates - CT Scan:  Consistent improvement in Lund-MacKay CT scores - Symptoms:  Significantly improved SNOT-20 score  Symptoms/QOL scores </a:t>
            </a:r>
          </a:p>
        </p:txBody>
      </p:sp>
      <p:sp>
        <p:nvSpPr>
          <p:cNvPr name="TextBox 15" id="15"/>
          <p:cNvSpPr txBox="true"/>
          <p:nvPr/>
        </p:nvSpPr>
        <p:spPr>
          <a:xfrm rot="0">
            <a:off x="354835" y="9118721"/>
            <a:ext cx="6784524" cy="211807"/>
          </a:xfrm>
          <a:prstGeom prst="rect">
            <a:avLst/>
          </a:prstGeom>
        </p:spPr>
        <p:txBody>
          <a:bodyPr anchor="t" rtlCol="false" tIns="0" lIns="0" bIns="0" rIns="0">
            <a:spAutoFit/>
          </a:bodyPr>
          <a:lstStyle/>
          <a:p>
            <a:pPr algn="l">
              <a:lnSpc>
                <a:spcPts val="1438"/>
              </a:lnSpc>
            </a:pPr>
            <a:r>
              <a:rPr lang="en-US" sz="1000">
                <a:solidFill>
                  <a:srgbClr val="313130"/>
                </a:solidFill>
                <a:latin typeface="Swiss 721 Devanagari Light"/>
                <a:ea typeface="Swiss 721 Devanagari Light"/>
                <a:cs typeface="Swiss 721 Devanagari Light"/>
                <a:sym typeface="Swiss 721 Devanagari Light"/>
              </a:rPr>
              <a:t>In Balloon Sinus Dilation, inflamed sinuses are opened. After Balloon Sinus Dilation the sinuses remain open, allowing the </a:t>
            </a:r>
          </a:p>
        </p:txBody>
      </p:sp>
      <p:sp>
        <p:nvSpPr>
          <p:cNvPr name="TextBox 16" id="16"/>
          <p:cNvSpPr txBox="true"/>
          <p:nvPr/>
        </p:nvSpPr>
        <p:spPr>
          <a:xfrm rot="0">
            <a:off x="354835" y="9301382"/>
            <a:ext cx="3317653" cy="211807"/>
          </a:xfrm>
          <a:prstGeom prst="rect">
            <a:avLst/>
          </a:prstGeom>
        </p:spPr>
        <p:txBody>
          <a:bodyPr anchor="t" rtlCol="false" tIns="0" lIns="0" bIns="0" rIns="0">
            <a:spAutoFit/>
          </a:bodyPr>
          <a:lstStyle/>
          <a:p>
            <a:pPr algn="l">
              <a:lnSpc>
                <a:spcPts val="1438"/>
              </a:lnSpc>
            </a:pPr>
            <a:r>
              <a:rPr lang="en-US" sz="1000">
                <a:solidFill>
                  <a:srgbClr val="313130"/>
                </a:solidFill>
                <a:latin typeface="Swiss 721 Devanagari Light"/>
                <a:ea typeface="Swiss 721 Devanagari Light"/>
                <a:cs typeface="Swiss 721 Devanagari Light"/>
                <a:sym typeface="Swiss 721 Devanagari Light"/>
              </a:rPr>
              <a:t>return of normal sinus drainage and relief of sinus pressure.</a:t>
            </a:r>
          </a:p>
        </p:txBody>
      </p:sp>
      <p:sp>
        <p:nvSpPr>
          <p:cNvPr name="TextBox 17" id="17"/>
          <p:cNvSpPr txBox="true"/>
          <p:nvPr/>
        </p:nvSpPr>
        <p:spPr>
          <a:xfrm rot="0">
            <a:off x="356054" y="4423715"/>
            <a:ext cx="6929276" cy="183232"/>
          </a:xfrm>
          <a:prstGeom prst="rect">
            <a:avLst/>
          </a:prstGeom>
        </p:spPr>
        <p:txBody>
          <a:bodyPr anchor="t" rtlCol="false" tIns="0" lIns="0" bIns="0" rIns="0">
            <a:spAutoFit/>
          </a:bodyPr>
          <a:lstStyle/>
          <a:p>
            <a:pPr algn="l">
              <a:lnSpc>
                <a:spcPts val="1199"/>
              </a:lnSpc>
            </a:pPr>
            <a:r>
              <a:rPr lang="en-US" sz="1000">
                <a:solidFill>
                  <a:srgbClr val="313130"/>
                </a:solidFill>
                <a:latin typeface="Swiss 721 Devanagari Light"/>
                <a:ea typeface="Swiss 721 Devanagari Light"/>
                <a:cs typeface="Swiss 721 Devanagari Light"/>
                <a:sym typeface="Swiss 721 Devanagari Light"/>
              </a:rPr>
              <a:t>Balloon Sinus Dilation is safe and effective procedure for chronic sinusitis patients who are not responding well to medications </a:t>
            </a:r>
          </a:p>
        </p:txBody>
      </p:sp>
      <p:sp>
        <p:nvSpPr>
          <p:cNvPr name="TextBox 18" id="18"/>
          <p:cNvSpPr txBox="true"/>
          <p:nvPr/>
        </p:nvSpPr>
        <p:spPr>
          <a:xfrm rot="0">
            <a:off x="355902" y="4575943"/>
            <a:ext cx="3834841" cy="183232"/>
          </a:xfrm>
          <a:prstGeom prst="rect">
            <a:avLst/>
          </a:prstGeom>
        </p:spPr>
        <p:txBody>
          <a:bodyPr anchor="t" rtlCol="false" tIns="0" lIns="0" bIns="0" rIns="0">
            <a:spAutoFit/>
          </a:bodyPr>
          <a:lstStyle/>
          <a:p>
            <a:pPr algn="l">
              <a:lnSpc>
                <a:spcPts val="1199"/>
              </a:lnSpc>
            </a:pPr>
            <a:r>
              <a:rPr lang="en-US" sz="1000">
                <a:solidFill>
                  <a:srgbClr val="313130"/>
                </a:solidFill>
                <a:latin typeface="Swiss 721 Devanagari Light"/>
                <a:ea typeface="Swiss 721 Devanagari Light"/>
                <a:cs typeface="Swiss 721 Devanagari Light"/>
                <a:sym typeface="Swiss 721 Devanagari Light"/>
              </a:rPr>
              <a:t>and seeking relief from uncomfortable and painful sinusitis symptoms.</a:t>
            </a:r>
          </a:p>
        </p:txBody>
      </p:sp>
      <p:sp>
        <p:nvSpPr>
          <p:cNvPr name="TextBox 19" id="19"/>
          <p:cNvSpPr txBox="true"/>
          <p:nvPr/>
        </p:nvSpPr>
        <p:spPr>
          <a:xfrm rot="0">
            <a:off x="353387" y="4692234"/>
            <a:ext cx="6936800" cy="316582"/>
          </a:xfrm>
          <a:prstGeom prst="rect">
            <a:avLst/>
          </a:prstGeom>
        </p:spPr>
        <p:txBody>
          <a:bodyPr anchor="t" rtlCol="false" tIns="0" lIns="0" bIns="0" rIns="0">
            <a:spAutoFit/>
          </a:bodyPr>
          <a:lstStyle/>
          <a:p>
            <a:pPr algn="l">
              <a:lnSpc>
                <a:spcPts val="2500"/>
              </a:lnSpc>
            </a:pPr>
            <a:r>
              <a:rPr lang="en-US" sz="1000">
                <a:solidFill>
                  <a:srgbClr val="313130"/>
                </a:solidFill>
                <a:latin typeface="Swiss 721 Devanagari Light"/>
                <a:ea typeface="Swiss 721 Devanagari Light"/>
                <a:cs typeface="Swiss 721 Devanagari Light"/>
                <a:sym typeface="Swiss 721 Devanagari Light"/>
              </a:rPr>
              <a:t>In Balloon Sinus Dilation ENT surgeons open inflamed sinuses in the same way that heart surgeons open up blocked arteries </a:t>
            </a:r>
          </a:p>
        </p:txBody>
      </p:sp>
      <p:sp>
        <p:nvSpPr>
          <p:cNvPr name="TextBox 20" id="20"/>
          <p:cNvSpPr txBox="true"/>
          <p:nvPr/>
        </p:nvSpPr>
        <p:spPr>
          <a:xfrm rot="0">
            <a:off x="353244" y="5034953"/>
            <a:ext cx="1524867" cy="126082"/>
          </a:xfrm>
          <a:prstGeom prst="rect">
            <a:avLst/>
          </a:prstGeom>
        </p:spPr>
        <p:txBody>
          <a:bodyPr anchor="t" rtlCol="false" tIns="0" lIns="0" bIns="0" rIns="0">
            <a:spAutoFit/>
          </a:bodyPr>
          <a:lstStyle/>
          <a:p>
            <a:pPr algn="l">
              <a:lnSpc>
                <a:spcPts val="500"/>
              </a:lnSpc>
            </a:pPr>
            <a:r>
              <a:rPr lang="en-US" sz="1000">
                <a:solidFill>
                  <a:srgbClr val="313130"/>
                </a:solidFill>
                <a:latin typeface="Swiss 721 Devanagari Light"/>
                <a:ea typeface="Swiss 721 Devanagari Light"/>
                <a:cs typeface="Swiss 721 Devanagari Light"/>
                <a:sym typeface="Swiss 721 Devanagari Light"/>
              </a:rPr>
              <a:t>during balloon angioplasty. </a:t>
            </a:r>
          </a:p>
        </p:txBody>
      </p:sp>
      <p:sp>
        <p:nvSpPr>
          <p:cNvPr name="TextBox 21" id="21"/>
          <p:cNvSpPr txBox="true"/>
          <p:nvPr/>
        </p:nvSpPr>
        <p:spPr>
          <a:xfrm rot="0">
            <a:off x="355768" y="5253247"/>
            <a:ext cx="6945906" cy="335451"/>
          </a:xfrm>
          <a:prstGeom prst="rect">
            <a:avLst/>
          </a:prstGeom>
        </p:spPr>
        <p:txBody>
          <a:bodyPr anchor="t" rtlCol="false" tIns="0" lIns="0" bIns="0" rIns="0">
            <a:spAutoFit/>
          </a:bodyPr>
          <a:lstStyle/>
          <a:p>
            <a:pPr algn="l">
              <a:lnSpc>
                <a:spcPts val="1199"/>
              </a:lnSpc>
            </a:pPr>
            <a:r>
              <a:rPr lang="en-US" sz="1000" spc="5">
                <a:solidFill>
                  <a:srgbClr val="313130"/>
                </a:solidFill>
                <a:latin typeface="Swiss 721 Devanagari Light"/>
                <a:ea typeface="Swiss 721 Devanagari Light"/>
                <a:cs typeface="Swiss 721 Devanagari Light"/>
                <a:sym typeface="Swiss 721 Devanagari Light"/>
              </a:rPr>
              <a:t>Balloon Sinus Dilation is less invasive than traditional sinus surgery and effective at relieving symptoms of chronic sinusitis. Meril Balloon Sinus Dilation allows patients to return to normal activities quickly unlike conventional sinus surgery. Meril sinus </a:t>
            </a:r>
          </a:p>
        </p:txBody>
      </p:sp>
      <p:sp>
        <p:nvSpPr>
          <p:cNvPr name="TextBox 22" id="22"/>
          <p:cNvSpPr txBox="true"/>
          <p:nvPr/>
        </p:nvSpPr>
        <p:spPr>
          <a:xfrm rot="0">
            <a:off x="355768" y="5557695"/>
            <a:ext cx="3769481" cy="183232"/>
          </a:xfrm>
          <a:prstGeom prst="rect">
            <a:avLst/>
          </a:prstGeom>
        </p:spPr>
        <p:txBody>
          <a:bodyPr anchor="t" rtlCol="false" tIns="0" lIns="0" bIns="0" rIns="0">
            <a:spAutoFit/>
          </a:bodyPr>
          <a:lstStyle/>
          <a:p>
            <a:pPr algn="l">
              <a:lnSpc>
                <a:spcPts val="1199"/>
              </a:lnSpc>
            </a:pPr>
            <a:r>
              <a:rPr lang="en-US" sz="1000">
                <a:solidFill>
                  <a:srgbClr val="313130"/>
                </a:solidFill>
                <a:latin typeface="Swiss 721 Devanagari Light"/>
                <a:ea typeface="Swiss 721 Devanagari Light"/>
                <a:cs typeface="Swiss 721 Devanagari Light"/>
                <a:sym typeface="Swiss 721 Devanagari Light"/>
              </a:rPr>
              <a:t>surgery does not include removal of bones or tissue from the nose. </a:t>
            </a:r>
          </a:p>
        </p:txBody>
      </p:sp>
      <p:sp>
        <p:nvSpPr>
          <p:cNvPr name="TextBox 23" id="23"/>
          <p:cNvSpPr txBox="true"/>
          <p:nvPr/>
        </p:nvSpPr>
        <p:spPr>
          <a:xfrm rot="0">
            <a:off x="364560" y="1572425"/>
            <a:ext cx="7007085" cy="487670"/>
          </a:xfrm>
          <a:prstGeom prst="rect">
            <a:avLst/>
          </a:prstGeom>
        </p:spPr>
        <p:txBody>
          <a:bodyPr anchor="t" rtlCol="false" tIns="0" lIns="0" bIns="0" rIns="0">
            <a:spAutoFit/>
          </a:bodyPr>
          <a:lstStyle/>
          <a:p>
            <a:pPr algn="l">
              <a:lnSpc>
                <a:spcPts val="1199"/>
              </a:lnSpc>
            </a:pPr>
            <a:r>
              <a:rPr lang="en-US" sz="1000">
                <a:solidFill>
                  <a:srgbClr val="313130"/>
                </a:solidFill>
                <a:latin typeface="Swiss 721 Devanagari Light"/>
                <a:ea typeface="Swiss 721 Devanagari Light"/>
                <a:cs typeface="Swiss 721 Devanagari Light"/>
                <a:sym typeface="Swiss 721 Devanagari Light"/>
              </a:rPr>
              <a:t>Sinusitis is defined as an inflammation of the sinus lining, and is commonly caused by structural issues such as ostial blockage, bacterial infections, viral infections or a combination of these. For many patients, symptoms vary and may include nasal congestion, facial discomfort, nasal discharge, headache and fatigue. Sinusitis is considered acute when symptoms last </a:t>
            </a:r>
          </a:p>
        </p:txBody>
      </p:sp>
      <p:sp>
        <p:nvSpPr>
          <p:cNvPr name="TextBox 24" id="24"/>
          <p:cNvSpPr txBox="true"/>
          <p:nvPr/>
        </p:nvSpPr>
        <p:spPr>
          <a:xfrm rot="0">
            <a:off x="364388" y="2029092"/>
            <a:ext cx="3368954" cy="183232"/>
          </a:xfrm>
          <a:prstGeom prst="rect">
            <a:avLst/>
          </a:prstGeom>
        </p:spPr>
        <p:txBody>
          <a:bodyPr anchor="t" rtlCol="false" tIns="0" lIns="0" bIns="0" rIns="0">
            <a:spAutoFit/>
          </a:bodyPr>
          <a:lstStyle/>
          <a:p>
            <a:pPr algn="l">
              <a:lnSpc>
                <a:spcPts val="1199"/>
              </a:lnSpc>
            </a:pPr>
            <a:r>
              <a:rPr lang="en-US" sz="1000">
                <a:solidFill>
                  <a:srgbClr val="313130"/>
                </a:solidFill>
                <a:latin typeface="Swiss 721 Devanagari Light"/>
                <a:ea typeface="Swiss 721 Devanagari Light"/>
                <a:cs typeface="Swiss 721 Devanagari Light"/>
                <a:sym typeface="Swiss 721 Devanagari Light"/>
              </a:rPr>
              <a:t>4 weeks or less and chronic when it lasts 12 weeks or longer.</a:t>
            </a:r>
          </a:p>
        </p:txBody>
      </p:sp>
      <p:sp>
        <p:nvSpPr>
          <p:cNvPr name="TextBox 25" id="25"/>
          <p:cNvSpPr txBox="true"/>
          <p:nvPr/>
        </p:nvSpPr>
        <p:spPr>
          <a:xfrm rot="0">
            <a:off x="1384173" y="9904524"/>
            <a:ext cx="5971889" cy="211807"/>
          </a:xfrm>
          <a:prstGeom prst="rect">
            <a:avLst/>
          </a:prstGeom>
        </p:spPr>
        <p:txBody>
          <a:bodyPr anchor="t" rtlCol="false" tIns="0" lIns="0" bIns="0" rIns="0">
            <a:spAutoFit/>
          </a:bodyPr>
          <a:lstStyle/>
          <a:p>
            <a:pPr algn="l">
              <a:lnSpc>
                <a:spcPts val="1438"/>
              </a:lnSpc>
            </a:pPr>
            <a:r>
              <a:rPr lang="en-US" sz="1000">
                <a:solidFill>
                  <a:srgbClr val="313130"/>
                </a:solidFill>
                <a:latin typeface="Swiss 721 Devanagari"/>
                <a:ea typeface="Swiss 721 Devanagari"/>
                <a:cs typeface="Swiss 721 Devanagari"/>
                <a:sym typeface="Swiss 721 Devanagari"/>
              </a:rPr>
              <a:t> </a:t>
            </a:r>
            <a:r>
              <a:rPr lang="en-US" sz="1000">
                <a:solidFill>
                  <a:srgbClr val="313130"/>
                </a:solidFill>
                <a:latin typeface="Swiss 721 Devanagari Light"/>
                <a:ea typeface="Swiss 721 Devanagari Light"/>
                <a:cs typeface="Swiss 721 Devanagari Light"/>
                <a:sym typeface="Swiss 721 Devanagari Light"/>
              </a:rPr>
              <a:t>relieves pain and pressure of chronic sinusitis without cutting or removal of natural structures in the nose.</a:t>
            </a:r>
          </a:p>
        </p:txBody>
      </p:sp>
      <p:sp>
        <p:nvSpPr>
          <p:cNvPr name="TextBox 26" id="26"/>
          <p:cNvSpPr txBox="true"/>
          <p:nvPr/>
        </p:nvSpPr>
        <p:spPr>
          <a:xfrm rot="0">
            <a:off x="1126226" y="10087194"/>
            <a:ext cx="3206010" cy="211807"/>
          </a:xfrm>
          <a:prstGeom prst="rect">
            <a:avLst/>
          </a:prstGeom>
        </p:spPr>
        <p:txBody>
          <a:bodyPr anchor="t" rtlCol="false" tIns="0" lIns="0" bIns="0" rIns="0">
            <a:spAutoFit/>
          </a:bodyPr>
          <a:lstStyle/>
          <a:p>
            <a:pPr algn="l">
              <a:lnSpc>
                <a:spcPts val="1438"/>
              </a:lnSpc>
            </a:pPr>
            <a:r>
              <a:rPr lang="en-US" sz="1000">
                <a:solidFill>
                  <a:srgbClr val="313130"/>
                </a:solidFill>
                <a:latin typeface="Swiss 721 Devanagari"/>
                <a:ea typeface="Swiss 721 Devanagari"/>
                <a:cs typeface="Swiss 721 Devanagari"/>
                <a:sym typeface="Swiss 721 Devanagari"/>
              </a:rPr>
              <a:t> </a:t>
            </a:r>
            <a:r>
              <a:rPr lang="en-US" sz="1000">
                <a:solidFill>
                  <a:srgbClr val="313130"/>
                </a:solidFill>
                <a:latin typeface="Swiss 721 Devanagari Light"/>
                <a:ea typeface="Swiss 721 Devanagari Light"/>
                <a:cs typeface="Swiss 721 Devanagari Light"/>
                <a:sym typeface="Swiss 721 Devanagari Light"/>
              </a:rPr>
              <a:t>many people return to normal activities within 24 hours.</a:t>
            </a:r>
          </a:p>
        </p:txBody>
      </p:sp>
      <p:sp>
        <p:nvSpPr>
          <p:cNvPr name="TextBox 27" id="27"/>
          <p:cNvSpPr txBox="true"/>
          <p:nvPr/>
        </p:nvSpPr>
        <p:spPr>
          <a:xfrm rot="0">
            <a:off x="363341" y="9991201"/>
            <a:ext cx="1141505" cy="171421"/>
          </a:xfrm>
          <a:prstGeom prst="rect">
            <a:avLst/>
          </a:prstGeom>
        </p:spPr>
        <p:txBody>
          <a:bodyPr anchor="t" rtlCol="false" tIns="0" lIns="0" bIns="0" rIns="0">
            <a:spAutoFit/>
          </a:bodyPr>
          <a:lstStyle/>
          <a:p>
            <a:pPr algn="l">
              <a:lnSpc>
                <a:spcPts val="1438"/>
              </a:lnSpc>
            </a:pPr>
            <a:r>
              <a:rPr lang="en-US" sz="1000" spc="-11">
                <a:solidFill>
                  <a:srgbClr val="313130"/>
                </a:solidFill>
                <a:latin typeface="IBM Plex Sans"/>
                <a:ea typeface="IBM Plex Sans"/>
                <a:cs typeface="IBM Plex Sans"/>
                <a:sym typeface="IBM Plex Sans"/>
              </a:rPr>
              <a:t>Minimally invasive–</a:t>
            </a:r>
          </a:p>
        </p:txBody>
      </p:sp>
      <p:sp>
        <p:nvSpPr>
          <p:cNvPr name="TextBox 28" id="28"/>
          <p:cNvSpPr txBox="true"/>
          <p:nvPr/>
        </p:nvSpPr>
        <p:spPr>
          <a:xfrm rot="0">
            <a:off x="363341" y="10173872"/>
            <a:ext cx="878405" cy="171421"/>
          </a:xfrm>
          <a:prstGeom prst="rect">
            <a:avLst/>
          </a:prstGeom>
        </p:spPr>
        <p:txBody>
          <a:bodyPr anchor="t" rtlCol="false" tIns="0" lIns="0" bIns="0" rIns="0">
            <a:spAutoFit/>
          </a:bodyPr>
          <a:lstStyle/>
          <a:p>
            <a:pPr algn="l">
              <a:lnSpc>
                <a:spcPts val="1438"/>
              </a:lnSpc>
            </a:pPr>
            <a:r>
              <a:rPr lang="en-US" sz="1000" spc="-11">
                <a:solidFill>
                  <a:srgbClr val="313130"/>
                </a:solidFill>
                <a:latin typeface="IBM Plex Sans"/>
                <a:ea typeface="IBM Plex Sans"/>
                <a:cs typeface="IBM Plex Sans"/>
                <a:sym typeface="IBM Plex Sans"/>
              </a:rPr>
              <a:t>Fast recovery–</a:t>
            </a:r>
          </a:p>
        </p:txBody>
      </p:sp>
      <p:sp>
        <p:nvSpPr>
          <p:cNvPr name="TextBox 29" id="29"/>
          <p:cNvSpPr txBox="true"/>
          <p:nvPr/>
        </p:nvSpPr>
        <p:spPr>
          <a:xfrm rot="0">
            <a:off x="356054" y="9638252"/>
            <a:ext cx="1412405" cy="275568"/>
          </a:xfrm>
          <a:prstGeom prst="rect">
            <a:avLst/>
          </a:prstGeom>
        </p:spPr>
        <p:txBody>
          <a:bodyPr anchor="t" rtlCol="false" tIns="0" lIns="0" bIns="0" rIns="0">
            <a:spAutoFit/>
          </a:bodyPr>
          <a:lstStyle/>
          <a:p>
            <a:pPr algn="l">
              <a:lnSpc>
                <a:spcPts val="1959"/>
              </a:lnSpc>
            </a:pPr>
            <a:r>
              <a:rPr lang="en-US" b="true" sz="1399">
                <a:solidFill>
                  <a:srgbClr val="5E97CE"/>
                </a:solidFill>
                <a:latin typeface="Swiss 721 Devanagari Bold"/>
                <a:ea typeface="Swiss 721 Devanagari Bold"/>
                <a:cs typeface="Swiss 721 Devanagari Bold"/>
                <a:sym typeface="Swiss 721 Devanagari Bold"/>
              </a:rPr>
              <a:t>Safe &amp; Effective </a:t>
            </a:r>
          </a:p>
        </p:txBody>
      </p:sp>
      <p:sp>
        <p:nvSpPr>
          <p:cNvPr name="TextBox 30" id="30"/>
          <p:cNvSpPr txBox="true"/>
          <p:nvPr/>
        </p:nvSpPr>
        <p:spPr>
          <a:xfrm rot="0">
            <a:off x="352396" y="711441"/>
            <a:ext cx="2994165" cy="778821"/>
          </a:xfrm>
          <a:prstGeom prst="rect">
            <a:avLst/>
          </a:prstGeom>
        </p:spPr>
        <p:txBody>
          <a:bodyPr anchor="t" rtlCol="false" tIns="0" lIns="0" bIns="0" rIns="0">
            <a:spAutoFit/>
          </a:bodyPr>
          <a:lstStyle/>
          <a:p>
            <a:pPr algn="l">
              <a:lnSpc>
                <a:spcPts val="2520"/>
              </a:lnSpc>
            </a:pPr>
            <a:r>
              <a:rPr lang="en-US" sz="1800">
                <a:solidFill>
                  <a:srgbClr val="313130"/>
                </a:solidFill>
                <a:latin typeface="Swiss 721 Devanagari Light"/>
                <a:ea typeface="Swiss 721 Devanagari Light"/>
                <a:cs typeface="Swiss 721 Devanagari Light"/>
                <a:sym typeface="Swiss 721 Devanagari Light"/>
              </a:rPr>
              <a:t>Balloon Sinus Dilation System</a:t>
            </a:r>
          </a:p>
          <a:p>
            <a:pPr algn="l">
              <a:lnSpc>
                <a:spcPts val="2240"/>
              </a:lnSpc>
            </a:pPr>
            <a:r>
              <a:rPr lang="en-US" b="true" sz="1600">
                <a:solidFill>
                  <a:srgbClr val="5E97CE"/>
                </a:solidFill>
                <a:latin typeface="Swiss 721 Devanagari Bold"/>
                <a:ea typeface="Swiss 721 Devanagari Bold"/>
                <a:cs typeface="Swiss 721 Devanagari Bold"/>
                <a:sym typeface="Swiss 721 Devanagari Bold"/>
              </a:rPr>
              <a:t>Sinusitis Overview</a:t>
            </a:r>
          </a:p>
        </p:txBody>
      </p:sp>
      <p:sp>
        <p:nvSpPr>
          <p:cNvPr name="TextBox 31" id="31"/>
          <p:cNvSpPr txBox="true"/>
          <p:nvPr/>
        </p:nvSpPr>
        <p:spPr>
          <a:xfrm rot="0">
            <a:off x="2095452" y="391716"/>
            <a:ext cx="151886" cy="68561"/>
          </a:xfrm>
          <a:prstGeom prst="rect">
            <a:avLst/>
          </a:prstGeom>
        </p:spPr>
        <p:txBody>
          <a:bodyPr anchor="t" rtlCol="false" tIns="0" lIns="0" bIns="0" rIns="0">
            <a:spAutoFit/>
          </a:bodyPr>
          <a:lstStyle/>
          <a:p>
            <a:pPr algn="l">
              <a:lnSpc>
                <a:spcPts val="431"/>
              </a:lnSpc>
            </a:pPr>
            <a:r>
              <a:rPr lang="en-US" sz="699" spc="-7">
                <a:solidFill>
                  <a:srgbClr val="5E97CE"/>
                </a:solidFill>
                <a:latin typeface="IBM Plex Sans"/>
                <a:ea typeface="IBM Plex Sans"/>
                <a:cs typeface="IBM Plex Sans"/>
                <a:sym typeface="IBM Plex Sans"/>
              </a:rPr>
              <a:t>TM </a:t>
            </a:r>
          </a:p>
        </p:txBody>
      </p:sp>
      <p:sp>
        <p:nvSpPr>
          <p:cNvPr name="TextBox 32" id="32"/>
          <p:cNvSpPr txBox="true"/>
          <p:nvPr/>
        </p:nvSpPr>
        <p:spPr>
          <a:xfrm rot="0">
            <a:off x="328070" y="276663"/>
            <a:ext cx="1802882" cy="459600"/>
          </a:xfrm>
          <a:prstGeom prst="rect">
            <a:avLst/>
          </a:prstGeom>
        </p:spPr>
        <p:txBody>
          <a:bodyPr anchor="t" rtlCol="false" tIns="0" lIns="0" bIns="0" rIns="0">
            <a:spAutoFit/>
          </a:bodyPr>
          <a:lstStyle/>
          <a:p>
            <a:pPr algn="l">
              <a:lnSpc>
                <a:spcPts val="2217"/>
              </a:lnSpc>
            </a:pPr>
            <a:r>
              <a:rPr lang="en-US" b="true" sz="3600">
                <a:solidFill>
                  <a:srgbClr val="5E97CE"/>
                </a:solidFill>
                <a:latin typeface="Swiss 721 Devanagari Bold"/>
                <a:ea typeface="Swiss 721 Devanagari Bold"/>
                <a:cs typeface="Swiss 721 Devanagari Bold"/>
                <a:sym typeface="Swiss 721 Devanagari Bold"/>
              </a:rPr>
              <a:t>MESIRE</a:t>
            </a:r>
          </a:p>
        </p:txBody>
      </p:sp>
      <p:sp>
        <p:nvSpPr>
          <p:cNvPr name="TextBox 33" id="33"/>
          <p:cNvSpPr txBox="true"/>
          <p:nvPr/>
        </p:nvSpPr>
        <p:spPr>
          <a:xfrm rot="0">
            <a:off x="680333" y="5995978"/>
            <a:ext cx="357064" cy="201892"/>
          </a:xfrm>
          <a:prstGeom prst="rect">
            <a:avLst/>
          </a:prstGeom>
        </p:spPr>
        <p:txBody>
          <a:bodyPr anchor="t" rtlCol="false" tIns="0" lIns="0" bIns="0" rIns="0">
            <a:spAutoFit/>
          </a:bodyPr>
          <a:lstStyle/>
          <a:p>
            <a:pPr algn="l">
              <a:lnSpc>
                <a:spcPts val="1679"/>
              </a:lnSpc>
            </a:pPr>
            <a:r>
              <a:rPr lang="en-US" sz="1200" spc="-13">
                <a:solidFill>
                  <a:srgbClr val="FFFFFF"/>
                </a:solidFill>
                <a:latin typeface="IBM Plex Sans"/>
                <a:ea typeface="IBM Plex Sans"/>
                <a:cs typeface="IBM Plex Sans"/>
                <a:sym typeface="IBM Plex Sans"/>
              </a:rPr>
              <a:t>Safe:</a:t>
            </a:r>
          </a:p>
        </p:txBody>
      </p:sp>
      <p:sp>
        <p:nvSpPr>
          <p:cNvPr name="TextBox 34" id="34"/>
          <p:cNvSpPr txBox="true"/>
          <p:nvPr/>
        </p:nvSpPr>
        <p:spPr>
          <a:xfrm rot="0">
            <a:off x="680333" y="7675378"/>
            <a:ext cx="1115959" cy="201892"/>
          </a:xfrm>
          <a:prstGeom prst="rect">
            <a:avLst/>
          </a:prstGeom>
        </p:spPr>
        <p:txBody>
          <a:bodyPr anchor="t" rtlCol="false" tIns="0" lIns="0" bIns="0" rIns="0">
            <a:spAutoFit/>
          </a:bodyPr>
          <a:lstStyle/>
          <a:p>
            <a:pPr algn="l">
              <a:lnSpc>
                <a:spcPts val="1679"/>
              </a:lnSpc>
            </a:pPr>
            <a:r>
              <a:rPr lang="en-US" sz="1200" spc="-13">
                <a:solidFill>
                  <a:srgbClr val="FFFFFF"/>
                </a:solidFill>
                <a:latin typeface="IBM Plex Sans"/>
                <a:ea typeface="IBM Plex Sans"/>
                <a:cs typeface="IBM Plex Sans"/>
                <a:sym typeface="IBM Plex Sans"/>
              </a:rPr>
              <a:t>Patient Friendly:</a:t>
            </a:r>
          </a:p>
        </p:txBody>
      </p:sp>
      <p:sp>
        <p:nvSpPr>
          <p:cNvPr name="TextBox 35" id="35"/>
          <p:cNvSpPr txBox="true"/>
          <p:nvPr/>
        </p:nvSpPr>
        <p:spPr>
          <a:xfrm rot="0">
            <a:off x="3953675" y="5994759"/>
            <a:ext cx="632203" cy="201892"/>
          </a:xfrm>
          <a:prstGeom prst="rect">
            <a:avLst/>
          </a:prstGeom>
        </p:spPr>
        <p:txBody>
          <a:bodyPr anchor="t" rtlCol="false" tIns="0" lIns="0" bIns="0" rIns="0">
            <a:spAutoFit/>
          </a:bodyPr>
          <a:lstStyle/>
          <a:p>
            <a:pPr algn="l">
              <a:lnSpc>
                <a:spcPts val="1679"/>
              </a:lnSpc>
            </a:pPr>
            <a:r>
              <a:rPr lang="en-US" sz="1200" spc="-13">
                <a:solidFill>
                  <a:srgbClr val="FFFFFF"/>
                </a:solidFill>
                <a:latin typeface="IBM Plex Sans"/>
                <a:ea typeface="IBM Plex Sans"/>
                <a:cs typeface="IBM Plex Sans"/>
                <a:sym typeface="IBM Plex Sans"/>
              </a:rPr>
              <a:t>Effective:</a:t>
            </a:r>
          </a:p>
        </p:txBody>
      </p:sp>
      <p:sp>
        <p:nvSpPr>
          <p:cNvPr name="TextBox 36" id="36"/>
          <p:cNvSpPr txBox="true"/>
          <p:nvPr/>
        </p:nvSpPr>
        <p:spPr>
          <a:xfrm rot="0">
            <a:off x="3975430" y="7675378"/>
            <a:ext cx="661273" cy="201892"/>
          </a:xfrm>
          <a:prstGeom prst="rect">
            <a:avLst/>
          </a:prstGeom>
        </p:spPr>
        <p:txBody>
          <a:bodyPr anchor="t" rtlCol="false" tIns="0" lIns="0" bIns="0" rIns="0">
            <a:spAutoFit/>
          </a:bodyPr>
          <a:lstStyle/>
          <a:p>
            <a:pPr algn="l">
              <a:lnSpc>
                <a:spcPts val="1679"/>
              </a:lnSpc>
            </a:pPr>
            <a:r>
              <a:rPr lang="en-US" sz="1200" spc="-13">
                <a:solidFill>
                  <a:srgbClr val="FFFFFF"/>
                </a:solidFill>
                <a:latin typeface="IBM Plex Sans"/>
                <a:ea typeface="IBM Plex Sans"/>
                <a:cs typeface="IBM Plex Sans"/>
                <a:sym typeface="IBM Plex Sans"/>
              </a:rPr>
              <a:t>Enabling:</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63503" y="-63503"/>
            <a:ext cx="7686027" cy="10819000"/>
          </a:xfrm>
          <a:custGeom>
            <a:avLst/>
            <a:gdLst/>
            <a:ahLst/>
            <a:cxnLst/>
            <a:rect r="r" b="b" t="t" l="l"/>
            <a:pathLst>
              <a:path h="10819000" w="7686027">
                <a:moveTo>
                  <a:pt x="0" y="0"/>
                </a:moveTo>
                <a:lnTo>
                  <a:pt x="7686027" y="0"/>
                </a:lnTo>
                <a:lnTo>
                  <a:pt x="7686027" y="10819000"/>
                </a:lnTo>
                <a:lnTo>
                  <a:pt x="0" y="108190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416890" y="8719452"/>
            <a:ext cx="1079992" cy="1079992"/>
            <a:chOff x="0" y="0"/>
            <a:chExt cx="1439990" cy="1439990"/>
          </a:xfrm>
        </p:grpSpPr>
        <p:sp>
          <p:nvSpPr>
            <p:cNvPr name="Freeform 4" id="4"/>
            <p:cNvSpPr/>
            <p:nvPr/>
          </p:nvSpPr>
          <p:spPr>
            <a:xfrm flipH="false" flipV="false" rot="0">
              <a:off x="0" y="0"/>
              <a:ext cx="1440053" cy="1439926"/>
            </a:xfrm>
            <a:custGeom>
              <a:avLst/>
              <a:gdLst/>
              <a:ahLst/>
              <a:cxnLst/>
              <a:rect r="r" b="b" t="t" l="l"/>
              <a:pathLst>
                <a:path h="1439926" w="1440053">
                  <a:moveTo>
                    <a:pt x="719963" y="0"/>
                  </a:moveTo>
                  <a:cubicBezTo>
                    <a:pt x="322326" y="0"/>
                    <a:pt x="0" y="322326"/>
                    <a:pt x="0" y="719963"/>
                  </a:cubicBezTo>
                  <a:cubicBezTo>
                    <a:pt x="0" y="1117600"/>
                    <a:pt x="322326" y="1439926"/>
                    <a:pt x="719963" y="1439926"/>
                  </a:cubicBezTo>
                  <a:cubicBezTo>
                    <a:pt x="1117600" y="1439926"/>
                    <a:pt x="1440053" y="1117600"/>
                    <a:pt x="1440053" y="719963"/>
                  </a:cubicBezTo>
                  <a:cubicBezTo>
                    <a:pt x="1440053" y="322326"/>
                    <a:pt x="1117600" y="0"/>
                    <a:pt x="719963" y="0"/>
                  </a:cubicBezTo>
                  <a:close/>
                </a:path>
              </a:pathLst>
            </a:custGeom>
            <a:blipFill>
              <a:blip r:embed="rId4"/>
              <a:stretch>
                <a:fillRect l="-391" t="-239" r="-45" b="-212"/>
              </a:stretch>
            </a:blipFill>
          </p:spPr>
        </p:sp>
      </p:grpSp>
      <p:grpSp>
        <p:nvGrpSpPr>
          <p:cNvPr name="Group 5" id="5"/>
          <p:cNvGrpSpPr/>
          <p:nvPr/>
        </p:nvGrpSpPr>
        <p:grpSpPr>
          <a:xfrm rot="0">
            <a:off x="2301126" y="8719452"/>
            <a:ext cx="1079992" cy="1079992"/>
            <a:chOff x="0" y="0"/>
            <a:chExt cx="1439990" cy="1439990"/>
          </a:xfrm>
        </p:grpSpPr>
        <p:sp>
          <p:nvSpPr>
            <p:cNvPr name="Freeform 6" id="6"/>
            <p:cNvSpPr/>
            <p:nvPr/>
          </p:nvSpPr>
          <p:spPr>
            <a:xfrm flipH="false" flipV="false" rot="0">
              <a:off x="0" y="0"/>
              <a:ext cx="1440053" cy="1439926"/>
            </a:xfrm>
            <a:custGeom>
              <a:avLst/>
              <a:gdLst/>
              <a:ahLst/>
              <a:cxnLst/>
              <a:rect r="r" b="b" t="t" l="l"/>
              <a:pathLst>
                <a:path h="1439926" w="1440053">
                  <a:moveTo>
                    <a:pt x="719963" y="0"/>
                  </a:moveTo>
                  <a:cubicBezTo>
                    <a:pt x="322326" y="0"/>
                    <a:pt x="0" y="322326"/>
                    <a:pt x="0" y="719963"/>
                  </a:cubicBezTo>
                  <a:cubicBezTo>
                    <a:pt x="0" y="1117600"/>
                    <a:pt x="322326" y="1439926"/>
                    <a:pt x="719963" y="1439926"/>
                  </a:cubicBezTo>
                  <a:cubicBezTo>
                    <a:pt x="1117600" y="1439926"/>
                    <a:pt x="1440053" y="1117600"/>
                    <a:pt x="1440053" y="719963"/>
                  </a:cubicBezTo>
                  <a:cubicBezTo>
                    <a:pt x="1440053" y="322326"/>
                    <a:pt x="1117600" y="0"/>
                    <a:pt x="719963" y="0"/>
                  </a:cubicBezTo>
                  <a:close/>
                </a:path>
              </a:pathLst>
            </a:custGeom>
            <a:blipFill>
              <a:blip r:embed="rId5"/>
              <a:stretch>
                <a:fillRect l="-380" t="-167" r="-90" b="-201"/>
              </a:stretch>
            </a:blipFill>
          </p:spPr>
        </p:sp>
      </p:grpSp>
      <p:grpSp>
        <p:nvGrpSpPr>
          <p:cNvPr name="Group 7" id="7"/>
          <p:cNvGrpSpPr/>
          <p:nvPr/>
        </p:nvGrpSpPr>
        <p:grpSpPr>
          <a:xfrm rot="0">
            <a:off x="4185361" y="8719452"/>
            <a:ext cx="1079992" cy="1079992"/>
            <a:chOff x="0" y="0"/>
            <a:chExt cx="1439990" cy="1439990"/>
          </a:xfrm>
        </p:grpSpPr>
        <p:sp>
          <p:nvSpPr>
            <p:cNvPr name="Freeform 8" id="8"/>
            <p:cNvSpPr/>
            <p:nvPr/>
          </p:nvSpPr>
          <p:spPr>
            <a:xfrm flipH="false" flipV="false" rot="0">
              <a:off x="0" y="0"/>
              <a:ext cx="1440053" cy="1439926"/>
            </a:xfrm>
            <a:custGeom>
              <a:avLst/>
              <a:gdLst/>
              <a:ahLst/>
              <a:cxnLst/>
              <a:rect r="r" b="b" t="t" l="l"/>
              <a:pathLst>
                <a:path h="1439926" w="1440053">
                  <a:moveTo>
                    <a:pt x="719963" y="0"/>
                  </a:moveTo>
                  <a:cubicBezTo>
                    <a:pt x="322326" y="0"/>
                    <a:pt x="0" y="322326"/>
                    <a:pt x="0" y="719963"/>
                  </a:cubicBezTo>
                  <a:cubicBezTo>
                    <a:pt x="0" y="1117600"/>
                    <a:pt x="322326" y="1439926"/>
                    <a:pt x="719963" y="1439926"/>
                  </a:cubicBezTo>
                  <a:cubicBezTo>
                    <a:pt x="1117600" y="1439926"/>
                    <a:pt x="1440053" y="1117600"/>
                    <a:pt x="1440053" y="719963"/>
                  </a:cubicBezTo>
                  <a:cubicBezTo>
                    <a:pt x="1440053" y="322326"/>
                    <a:pt x="1117600" y="0"/>
                    <a:pt x="719963" y="0"/>
                  </a:cubicBezTo>
                  <a:close/>
                </a:path>
              </a:pathLst>
            </a:custGeom>
            <a:blipFill>
              <a:blip r:embed="rId6"/>
              <a:stretch>
                <a:fillRect l="-134" t="-285" r="-336" b="-289"/>
              </a:stretch>
            </a:blipFill>
          </p:spPr>
        </p:sp>
      </p:grpSp>
      <p:grpSp>
        <p:nvGrpSpPr>
          <p:cNvPr name="Group 9" id="9"/>
          <p:cNvGrpSpPr/>
          <p:nvPr/>
        </p:nvGrpSpPr>
        <p:grpSpPr>
          <a:xfrm rot="0">
            <a:off x="6069597" y="8719452"/>
            <a:ext cx="1079992" cy="1079992"/>
            <a:chOff x="0" y="0"/>
            <a:chExt cx="1439990" cy="1439990"/>
          </a:xfrm>
        </p:grpSpPr>
        <p:sp>
          <p:nvSpPr>
            <p:cNvPr name="Freeform 10" id="10"/>
            <p:cNvSpPr/>
            <p:nvPr/>
          </p:nvSpPr>
          <p:spPr>
            <a:xfrm flipH="false" flipV="false" rot="0">
              <a:off x="0" y="0"/>
              <a:ext cx="1440053" cy="1439926"/>
            </a:xfrm>
            <a:custGeom>
              <a:avLst/>
              <a:gdLst/>
              <a:ahLst/>
              <a:cxnLst/>
              <a:rect r="r" b="b" t="t" l="l"/>
              <a:pathLst>
                <a:path h="1439926" w="1440053">
                  <a:moveTo>
                    <a:pt x="719963" y="0"/>
                  </a:moveTo>
                  <a:cubicBezTo>
                    <a:pt x="322326" y="0"/>
                    <a:pt x="0" y="322326"/>
                    <a:pt x="0" y="719963"/>
                  </a:cubicBezTo>
                  <a:cubicBezTo>
                    <a:pt x="0" y="1117600"/>
                    <a:pt x="322326" y="1439926"/>
                    <a:pt x="719963" y="1439926"/>
                  </a:cubicBezTo>
                  <a:cubicBezTo>
                    <a:pt x="1117600" y="1439926"/>
                    <a:pt x="1440053" y="1117600"/>
                    <a:pt x="1440053" y="719963"/>
                  </a:cubicBezTo>
                  <a:cubicBezTo>
                    <a:pt x="1440053" y="322326"/>
                    <a:pt x="1117600" y="0"/>
                    <a:pt x="719963" y="0"/>
                  </a:cubicBezTo>
                  <a:close/>
                </a:path>
              </a:pathLst>
            </a:custGeom>
            <a:blipFill>
              <a:blip r:embed="rId7"/>
              <a:stretch>
                <a:fillRect l="-19" t="-133" r="-114" b="-17"/>
              </a:stretch>
            </a:blipFill>
          </p:spPr>
        </p:sp>
      </p:grpSp>
      <p:sp>
        <p:nvSpPr>
          <p:cNvPr name="TextBox 11" id="11"/>
          <p:cNvSpPr txBox="true"/>
          <p:nvPr/>
        </p:nvSpPr>
        <p:spPr>
          <a:xfrm rot="0">
            <a:off x="360083" y="406851"/>
            <a:ext cx="597037" cy="294865"/>
          </a:xfrm>
          <a:prstGeom prst="rect">
            <a:avLst/>
          </a:prstGeom>
        </p:spPr>
        <p:txBody>
          <a:bodyPr anchor="t" rtlCol="false" tIns="0" lIns="0" bIns="0" rIns="0">
            <a:spAutoFit/>
          </a:bodyPr>
          <a:lstStyle/>
          <a:p>
            <a:pPr algn="l">
              <a:lnSpc>
                <a:spcPts val="1438"/>
              </a:lnSpc>
            </a:pPr>
            <a:r>
              <a:rPr lang="en-US" sz="1000" spc="-11">
                <a:solidFill>
                  <a:srgbClr val="313130"/>
                </a:solidFill>
                <a:latin typeface="IBM Plex Sans"/>
                <a:ea typeface="IBM Plex Sans"/>
                <a:cs typeface="IBM Plex Sans"/>
                <a:sym typeface="IBM Plex Sans"/>
              </a:rPr>
              <a:t>Reliable –</a:t>
            </a:r>
            <a:r>
              <a:rPr lang="en-US" sz="1000" spc="-11">
                <a:solidFill>
                  <a:srgbClr val="313130"/>
                </a:solidFill>
                <a:latin typeface="IBM Plex Sans"/>
                <a:ea typeface="IBM Plex Sans"/>
                <a:cs typeface="IBM Plex Sans"/>
                <a:sym typeface="IBM Plex Sans"/>
              </a:rPr>
              <a:t> </a:t>
            </a:r>
          </a:p>
        </p:txBody>
      </p:sp>
      <p:sp>
        <p:nvSpPr>
          <p:cNvPr name="TextBox 12" id="12"/>
          <p:cNvSpPr txBox="true"/>
          <p:nvPr/>
        </p:nvSpPr>
        <p:spPr>
          <a:xfrm rot="0">
            <a:off x="360083" y="589512"/>
            <a:ext cx="717737" cy="294865"/>
          </a:xfrm>
          <a:prstGeom prst="rect">
            <a:avLst/>
          </a:prstGeom>
        </p:spPr>
        <p:txBody>
          <a:bodyPr anchor="t" rtlCol="false" tIns="0" lIns="0" bIns="0" rIns="0">
            <a:spAutoFit/>
          </a:bodyPr>
          <a:lstStyle/>
          <a:p>
            <a:pPr algn="l">
              <a:lnSpc>
                <a:spcPts val="1438"/>
              </a:lnSpc>
            </a:pPr>
            <a:r>
              <a:rPr lang="en-US" sz="1000" spc="-11">
                <a:solidFill>
                  <a:srgbClr val="313130"/>
                </a:solidFill>
                <a:latin typeface="IBM Plex Sans"/>
                <a:ea typeface="IBM Plex Sans"/>
                <a:cs typeface="IBM Plex Sans"/>
                <a:sym typeface="IBM Plex Sans"/>
              </a:rPr>
              <a:t>Mandated –</a:t>
            </a:r>
            <a:r>
              <a:rPr lang="en-US" sz="1000" spc="-11">
                <a:solidFill>
                  <a:srgbClr val="313130"/>
                </a:solidFill>
                <a:latin typeface="IBM Plex Sans"/>
                <a:ea typeface="IBM Plex Sans"/>
                <a:cs typeface="IBM Plex Sans"/>
                <a:sym typeface="IBM Plex Sans"/>
              </a:rPr>
              <a:t> </a:t>
            </a:r>
          </a:p>
        </p:txBody>
      </p:sp>
      <p:sp>
        <p:nvSpPr>
          <p:cNvPr name="TextBox 13" id="13"/>
          <p:cNvSpPr txBox="true"/>
          <p:nvPr/>
        </p:nvSpPr>
        <p:spPr>
          <a:xfrm rot="0">
            <a:off x="327870" y="9795548"/>
            <a:ext cx="1276874" cy="183232"/>
          </a:xfrm>
          <a:prstGeom prst="rect">
            <a:avLst/>
          </a:prstGeom>
        </p:spPr>
        <p:txBody>
          <a:bodyPr anchor="t" rtlCol="false" tIns="0" lIns="0" bIns="0" rIns="0">
            <a:spAutoFit/>
          </a:bodyPr>
          <a:lstStyle/>
          <a:p>
            <a:pPr algn="l">
              <a:lnSpc>
                <a:spcPts val="1199"/>
              </a:lnSpc>
            </a:pPr>
            <a:r>
              <a:rPr lang="en-US" sz="1000">
                <a:solidFill>
                  <a:srgbClr val="313130"/>
                </a:solidFill>
                <a:latin typeface="Swiss 721 Devanagari Light"/>
                <a:ea typeface="Swiss 721 Devanagari Light"/>
                <a:cs typeface="Swiss 721 Devanagari Light"/>
                <a:sym typeface="Swiss 721 Devanagari Light"/>
              </a:rPr>
              <a:t>1. A balloon catheter is</a:t>
            </a:r>
          </a:p>
        </p:txBody>
      </p:sp>
      <p:sp>
        <p:nvSpPr>
          <p:cNvPr name="TextBox 14" id="14"/>
          <p:cNvSpPr txBox="true"/>
          <p:nvPr/>
        </p:nvSpPr>
        <p:spPr>
          <a:xfrm rot="0">
            <a:off x="327870" y="9947767"/>
            <a:ext cx="34461" cy="183232"/>
          </a:xfrm>
          <a:prstGeom prst="rect">
            <a:avLst/>
          </a:prstGeom>
        </p:spPr>
        <p:txBody>
          <a:bodyPr anchor="t" rtlCol="false" tIns="0" lIns="0" bIns="0" rIns="0">
            <a:spAutoFit/>
          </a:bodyPr>
          <a:lstStyle/>
          <a:p>
            <a:pPr algn="l">
              <a:lnSpc>
                <a:spcPts val="1199"/>
              </a:lnSpc>
            </a:pPr>
            <a:r>
              <a:rPr lang="en-US" sz="1000">
                <a:solidFill>
                  <a:srgbClr val="313130"/>
                </a:solidFill>
                <a:latin typeface="Swiss 721 Devanagari Light"/>
                <a:ea typeface="Swiss 721 Devanagari Light"/>
                <a:cs typeface="Swiss 721 Devanagari Light"/>
                <a:sym typeface="Swiss 721 Devanagari Light"/>
              </a:rPr>
              <a:t> </a:t>
            </a:r>
          </a:p>
        </p:txBody>
      </p:sp>
      <p:sp>
        <p:nvSpPr>
          <p:cNvPr name="TextBox 15" id="15"/>
          <p:cNvSpPr txBox="true"/>
          <p:nvPr/>
        </p:nvSpPr>
        <p:spPr>
          <a:xfrm rot="0">
            <a:off x="463001" y="9947767"/>
            <a:ext cx="928668" cy="335451"/>
          </a:xfrm>
          <a:prstGeom prst="rect">
            <a:avLst/>
          </a:prstGeom>
        </p:spPr>
        <p:txBody>
          <a:bodyPr anchor="t" rtlCol="false" tIns="0" lIns="0" bIns="0" rIns="0">
            <a:spAutoFit/>
          </a:bodyPr>
          <a:lstStyle/>
          <a:p>
            <a:pPr algn="l">
              <a:lnSpc>
                <a:spcPts val="1199"/>
              </a:lnSpc>
            </a:pPr>
            <a:r>
              <a:rPr lang="en-US" sz="1000">
                <a:solidFill>
                  <a:srgbClr val="313130"/>
                </a:solidFill>
                <a:latin typeface="Swiss 721 Devanagari Light"/>
                <a:ea typeface="Swiss 721 Devanagari Light"/>
                <a:cs typeface="Swiss 721 Devanagari Light"/>
                <a:sym typeface="Swiss 721 Devanagari Light"/>
              </a:rPr>
              <a:t>inserted into the inflamed sinus.</a:t>
            </a:r>
          </a:p>
        </p:txBody>
      </p:sp>
      <p:sp>
        <p:nvSpPr>
          <p:cNvPr name="TextBox 16" id="16"/>
          <p:cNvSpPr txBox="true"/>
          <p:nvPr/>
        </p:nvSpPr>
        <p:spPr>
          <a:xfrm rot="0">
            <a:off x="2273617" y="9795548"/>
            <a:ext cx="951081" cy="183232"/>
          </a:xfrm>
          <a:prstGeom prst="rect">
            <a:avLst/>
          </a:prstGeom>
        </p:spPr>
        <p:txBody>
          <a:bodyPr anchor="t" rtlCol="false" tIns="0" lIns="0" bIns="0" rIns="0">
            <a:spAutoFit/>
          </a:bodyPr>
          <a:lstStyle/>
          <a:p>
            <a:pPr algn="l">
              <a:lnSpc>
                <a:spcPts val="1199"/>
              </a:lnSpc>
            </a:pPr>
            <a:r>
              <a:rPr lang="en-US" sz="1000">
                <a:solidFill>
                  <a:srgbClr val="313130"/>
                </a:solidFill>
                <a:latin typeface="Swiss 721 Devanagari Light"/>
                <a:ea typeface="Swiss 721 Devanagari Light"/>
                <a:cs typeface="Swiss 721 Devanagari Light"/>
                <a:sym typeface="Swiss 721 Devanagari Light"/>
              </a:rPr>
              <a:t>2. The balloon is </a:t>
            </a:r>
          </a:p>
        </p:txBody>
      </p:sp>
      <p:sp>
        <p:nvSpPr>
          <p:cNvPr name="TextBox 17" id="17"/>
          <p:cNvSpPr txBox="true"/>
          <p:nvPr/>
        </p:nvSpPr>
        <p:spPr>
          <a:xfrm rot="0">
            <a:off x="2408749" y="9947767"/>
            <a:ext cx="1062876" cy="335451"/>
          </a:xfrm>
          <a:prstGeom prst="rect">
            <a:avLst/>
          </a:prstGeom>
        </p:spPr>
        <p:txBody>
          <a:bodyPr anchor="t" rtlCol="false" tIns="0" lIns="0" bIns="0" rIns="0">
            <a:spAutoFit/>
          </a:bodyPr>
          <a:lstStyle/>
          <a:p>
            <a:pPr algn="l">
              <a:lnSpc>
                <a:spcPts val="1199"/>
              </a:lnSpc>
            </a:pPr>
            <a:r>
              <a:rPr lang="en-US" sz="1000">
                <a:solidFill>
                  <a:srgbClr val="313130"/>
                </a:solidFill>
                <a:latin typeface="Swiss 721 Devanagari Light"/>
                <a:ea typeface="Swiss 721 Devanagari Light"/>
                <a:cs typeface="Swiss 721 Devanagari Light"/>
                <a:sym typeface="Swiss 721 Devanagari Light"/>
              </a:rPr>
              <a:t>inflated to expand the sinus opening. </a:t>
            </a:r>
          </a:p>
        </p:txBody>
      </p:sp>
      <p:sp>
        <p:nvSpPr>
          <p:cNvPr name="TextBox 18" id="18"/>
          <p:cNvSpPr txBox="true"/>
          <p:nvPr/>
        </p:nvSpPr>
        <p:spPr>
          <a:xfrm rot="0">
            <a:off x="945413" y="443617"/>
            <a:ext cx="2987583" cy="211807"/>
          </a:xfrm>
          <a:prstGeom prst="rect">
            <a:avLst/>
          </a:prstGeom>
        </p:spPr>
        <p:txBody>
          <a:bodyPr anchor="t" rtlCol="false" tIns="0" lIns="0" bIns="0" rIns="0">
            <a:spAutoFit/>
          </a:bodyPr>
          <a:lstStyle/>
          <a:p>
            <a:pPr algn="l">
              <a:lnSpc>
                <a:spcPts val="1438"/>
              </a:lnSpc>
            </a:pPr>
            <a:r>
              <a:rPr lang="en-US" sz="1000">
                <a:solidFill>
                  <a:srgbClr val="313130"/>
                </a:solidFill>
                <a:latin typeface="Swiss 721 Devanagari Light"/>
                <a:ea typeface="Swiss 721 Devanagari Light"/>
                <a:cs typeface="Swiss 721 Devanagari Light"/>
                <a:sym typeface="Swiss 721 Devanagari Light"/>
              </a:rPr>
              <a:t>350,000+ have benefited from Balloon Sinus Dilation</a:t>
            </a:r>
          </a:p>
        </p:txBody>
      </p:sp>
      <p:sp>
        <p:nvSpPr>
          <p:cNvPr name="TextBox 19" id="19"/>
          <p:cNvSpPr txBox="true"/>
          <p:nvPr/>
        </p:nvSpPr>
        <p:spPr>
          <a:xfrm rot="0">
            <a:off x="1063742" y="626278"/>
            <a:ext cx="3206248" cy="211807"/>
          </a:xfrm>
          <a:prstGeom prst="rect">
            <a:avLst/>
          </a:prstGeom>
        </p:spPr>
        <p:txBody>
          <a:bodyPr anchor="t" rtlCol="false" tIns="0" lIns="0" bIns="0" rIns="0">
            <a:spAutoFit/>
          </a:bodyPr>
          <a:lstStyle/>
          <a:p>
            <a:pPr algn="l">
              <a:lnSpc>
                <a:spcPts val="1438"/>
              </a:lnSpc>
            </a:pPr>
            <a:r>
              <a:rPr lang="en-US" sz="1000">
                <a:solidFill>
                  <a:srgbClr val="313130"/>
                </a:solidFill>
                <a:latin typeface="Swiss 721 Devanagari Light"/>
                <a:ea typeface="Swiss 721 Devanagari Light"/>
                <a:cs typeface="Swiss 721 Devanagari Light"/>
                <a:sym typeface="Swiss 721 Devanagari Light"/>
              </a:rPr>
              <a:t>procedure approved by India DGHS &amp; Europian CE work.</a:t>
            </a:r>
          </a:p>
        </p:txBody>
      </p:sp>
      <p:sp>
        <p:nvSpPr>
          <p:cNvPr name="TextBox 20" id="20"/>
          <p:cNvSpPr txBox="true"/>
          <p:nvPr/>
        </p:nvSpPr>
        <p:spPr>
          <a:xfrm rot="0">
            <a:off x="358931" y="6946201"/>
            <a:ext cx="4778102" cy="1628032"/>
          </a:xfrm>
          <a:prstGeom prst="rect">
            <a:avLst/>
          </a:prstGeom>
        </p:spPr>
        <p:txBody>
          <a:bodyPr anchor="t" rtlCol="false" tIns="0" lIns="0" bIns="0" rIns="0">
            <a:spAutoFit/>
          </a:bodyPr>
          <a:lstStyle/>
          <a:p>
            <a:pPr algn="l">
              <a:lnSpc>
                <a:spcPts val="1798"/>
              </a:lnSpc>
            </a:pPr>
            <a:r>
              <a:rPr lang="en-US" sz="1000">
                <a:solidFill>
                  <a:srgbClr val="313130"/>
                </a:solidFill>
                <a:latin typeface="Swiss 721 Devanagari Light"/>
                <a:ea typeface="Swiss 721 Devanagari Light"/>
                <a:cs typeface="Swiss 721 Devanagari Light"/>
                <a:sym typeface="Swiss 721 Devanagari Light"/>
              </a:rPr>
              <a:t>- Minimal invasive procedure - Lesser blood loss - Associated with fewer recurrences - Post operative recovery is faster and patient can resume work quickly - Safe and effective minimally invasive procedure for the treatment of chronic sinusitis</a:t>
            </a:r>
          </a:p>
          <a:p>
            <a:pPr algn="l">
              <a:lnSpc>
                <a:spcPts val="2240"/>
              </a:lnSpc>
            </a:pPr>
            <a:r>
              <a:rPr lang="en-US" b="true" sz="1600">
                <a:solidFill>
                  <a:srgbClr val="5E97CE"/>
                </a:solidFill>
                <a:latin typeface="Swiss 721 Devanagari Bold"/>
                <a:ea typeface="Swiss 721 Devanagari Bold"/>
                <a:cs typeface="Swiss 721 Devanagari Bold"/>
                <a:sym typeface="Swiss 721 Devanagari Bold"/>
              </a:rPr>
              <a:t>Balloon Sinus Dilation Procedure:</a:t>
            </a:r>
          </a:p>
        </p:txBody>
      </p:sp>
      <p:sp>
        <p:nvSpPr>
          <p:cNvPr name="TextBox 21" id="21"/>
          <p:cNvSpPr txBox="true"/>
          <p:nvPr/>
        </p:nvSpPr>
        <p:spPr>
          <a:xfrm rot="0">
            <a:off x="4049049" y="9795548"/>
            <a:ext cx="1383487" cy="183232"/>
          </a:xfrm>
          <a:prstGeom prst="rect">
            <a:avLst/>
          </a:prstGeom>
        </p:spPr>
        <p:txBody>
          <a:bodyPr anchor="t" rtlCol="false" tIns="0" lIns="0" bIns="0" rIns="0">
            <a:spAutoFit/>
          </a:bodyPr>
          <a:lstStyle/>
          <a:p>
            <a:pPr algn="l">
              <a:lnSpc>
                <a:spcPts val="1199"/>
              </a:lnSpc>
            </a:pPr>
            <a:r>
              <a:rPr lang="en-US" sz="1000">
                <a:solidFill>
                  <a:srgbClr val="313130"/>
                </a:solidFill>
                <a:latin typeface="Swiss 721 Devanagari Light"/>
                <a:ea typeface="Swiss 721 Devanagari Light"/>
                <a:cs typeface="Swiss 721 Devanagari Light"/>
                <a:sym typeface="Swiss 721 Devanagari Light"/>
              </a:rPr>
              <a:t>3. Saline is used to wash</a:t>
            </a:r>
          </a:p>
        </p:txBody>
      </p:sp>
      <p:sp>
        <p:nvSpPr>
          <p:cNvPr name="TextBox 22" id="22"/>
          <p:cNvSpPr txBox="true"/>
          <p:nvPr/>
        </p:nvSpPr>
        <p:spPr>
          <a:xfrm rot="0">
            <a:off x="4049049" y="9947767"/>
            <a:ext cx="34461" cy="183232"/>
          </a:xfrm>
          <a:prstGeom prst="rect">
            <a:avLst/>
          </a:prstGeom>
        </p:spPr>
        <p:txBody>
          <a:bodyPr anchor="t" rtlCol="false" tIns="0" lIns="0" bIns="0" rIns="0">
            <a:spAutoFit/>
          </a:bodyPr>
          <a:lstStyle/>
          <a:p>
            <a:pPr algn="l">
              <a:lnSpc>
                <a:spcPts val="1199"/>
              </a:lnSpc>
            </a:pPr>
            <a:r>
              <a:rPr lang="en-US" sz="1000">
                <a:solidFill>
                  <a:srgbClr val="313130"/>
                </a:solidFill>
                <a:latin typeface="Swiss 721 Devanagari Light"/>
                <a:ea typeface="Swiss 721 Devanagari Light"/>
                <a:cs typeface="Swiss 721 Devanagari Light"/>
                <a:sym typeface="Swiss 721 Devanagari Light"/>
              </a:rPr>
              <a:t> </a:t>
            </a:r>
          </a:p>
        </p:txBody>
      </p:sp>
      <p:sp>
        <p:nvSpPr>
          <p:cNvPr name="TextBox 23" id="23"/>
          <p:cNvSpPr txBox="true"/>
          <p:nvPr/>
        </p:nvSpPr>
        <p:spPr>
          <a:xfrm rot="0">
            <a:off x="4184180" y="9947767"/>
            <a:ext cx="1016498" cy="183232"/>
          </a:xfrm>
          <a:prstGeom prst="rect">
            <a:avLst/>
          </a:prstGeom>
        </p:spPr>
        <p:txBody>
          <a:bodyPr anchor="t" rtlCol="false" tIns="0" lIns="0" bIns="0" rIns="0">
            <a:spAutoFit/>
          </a:bodyPr>
          <a:lstStyle/>
          <a:p>
            <a:pPr algn="l">
              <a:lnSpc>
                <a:spcPts val="1199"/>
              </a:lnSpc>
            </a:pPr>
            <a:r>
              <a:rPr lang="en-US" sz="1000">
                <a:solidFill>
                  <a:srgbClr val="313130"/>
                </a:solidFill>
                <a:latin typeface="Swiss 721 Devanagari Light"/>
                <a:ea typeface="Swiss 721 Devanagari Light"/>
                <a:cs typeface="Swiss 721 Devanagari Light"/>
                <a:sym typeface="Swiss 721 Devanagari Light"/>
              </a:rPr>
              <a:t>the infected sinus.</a:t>
            </a:r>
          </a:p>
        </p:txBody>
      </p:sp>
      <p:sp>
        <p:nvSpPr>
          <p:cNvPr name="TextBox 24" id="24"/>
          <p:cNvSpPr txBox="true"/>
          <p:nvPr/>
        </p:nvSpPr>
        <p:spPr>
          <a:xfrm rot="0">
            <a:off x="352149" y="3211058"/>
            <a:ext cx="7048014" cy="3725847"/>
          </a:xfrm>
          <a:prstGeom prst="rect">
            <a:avLst/>
          </a:prstGeom>
        </p:spPr>
        <p:txBody>
          <a:bodyPr anchor="t" rtlCol="false" tIns="0" lIns="0" bIns="0" rIns="0">
            <a:spAutoFit/>
          </a:bodyPr>
          <a:lstStyle/>
          <a:p>
            <a:pPr algn="just">
              <a:lnSpc>
                <a:spcPts val="1199"/>
              </a:lnSpc>
            </a:pPr>
            <a:r>
              <a:rPr lang="en-US" sz="1000" spc="6">
                <a:solidFill>
                  <a:srgbClr val="313130"/>
                </a:solidFill>
                <a:latin typeface="Swiss 721 Devanagari Light"/>
                <a:ea typeface="Swiss 721 Devanagari Light"/>
                <a:cs typeface="Swiss 721 Devanagari Light"/>
                <a:sym typeface="Swiss 721 Devanagari Light"/>
              </a:rPr>
              <a:t>Patients who have undergone ESS (once before or multiple times) with persistent symptoms and opacification on CT scan with a narrow Ostia. Balloon Sinus Dilation is a safe and effective tool in difficult revision surgeries with distorted post-operative anatomy.</a:t>
            </a:r>
          </a:p>
          <a:p>
            <a:pPr algn="just">
              <a:lnSpc>
                <a:spcPts val="2240"/>
              </a:lnSpc>
            </a:pPr>
            <a:r>
              <a:rPr lang="en-US" b="true" sz="1600">
                <a:solidFill>
                  <a:srgbClr val="5E97CE"/>
                </a:solidFill>
                <a:latin typeface="Swiss 721 Devanagari Bold"/>
                <a:ea typeface="Swiss 721 Devanagari Bold"/>
                <a:cs typeface="Swiss 721 Devanagari Bold"/>
                <a:sym typeface="Swiss 721 Devanagari Bold"/>
              </a:rPr>
              <a:t>Why Balloon Sinus Dilation?</a:t>
            </a:r>
          </a:p>
          <a:p>
            <a:pPr algn="just">
              <a:lnSpc>
                <a:spcPts val="1199"/>
              </a:lnSpc>
            </a:pPr>
            <a:r>
              <a:rPr lang="en-US" sz="1000" spc="24">
                <a:solidFill>
                  <a:srgbClr val="313130"/>
                </a:solidFill>
                <a:latin typeface="Swiss 721 Devanagari Light"/>
                <a:ea typeface="Swiss 721 Devanagari Light"/>
                <a:cs typeface="Swiss 721 Devanagari Light"/>
                <a:sym typeface="Swiss 721 Devanagari Light"/>
              </a:rPr>
              <a:t>The Balloon Sinus Dilation is an advanced surgical procedure approved in India by Indian DCGI and Europian CE mark approved product. Balloon sinus dilation uses a precise single use flexible balloon catheter to open inflamed sinuses. The balloon catheter is placed into the sinus to reach the inflamed sinuses and gently inflated to restructure the previously blocked nasal passage.</a:t>
            </a:r>
          </a:p>
          <a:p>
            <a:pPr algn="just">
              <a:lnSpc>
                <a:spcPts val="2500"/>
              </a:lnSpc>
            </a:pPr>
            <a:r>
              <a:rPr lang="en-US" sz="1000" spc="28">
                <a:solidFill>
                  <a:srgbClr val="313130"/>
                </a:solidFill>
                <a:latin typeface="Swiss 721 Devanagari Light"/>
                <a:ea typeface="Swiss 721 Devanagari Light"/>
                <a:cs typeface="Swiss 721 Devanagari Light"/>
                <a:sym typeface="Swiss 721 Devanagari Light"/>
              </a:rPr>
              <a:t>The Balloon Sinus Dilation preserves the normal anatomy of the sinuses and mucosal tissue, and does not require the </a:t>
            </a:r>
          </a:p>
          <a:p>
            <a:pPr algn="just">
              <a:lnSpc>
                <a:spcPts val="500"/>
              </a:lnSpc>
            </a:pPr>
            <a:r>
              <a:rPr lang="en-US" sz="1000">
                <a:solidFill>
                  <a:srgbClr val="313130"/>
                </a:solidFill>
                <a:latin typeface="Swiss 721 Devanagari Light"/>
                <a:ea typeface="Swiss 721 Devanagari Light"/>
                <a:cs typeface="Swiss 721 Devanagari Light"/>
                <a:sym typeface="Swiss 721 Devanagari Light"/>
              </a:rPr>
              <a:t>removal of bone and tissue – this approach helps restore normal sinus functioning. FESS involves removal of bone and tissue </a:t>
            </a:r>
          </a:p>
          <a:p>
            <a:pPr algn="just">
              <a:lnSpc>
                <a:spcPts val="1897"/>
              </a:lnSpc>
            </a:pPr>
            <a:r>
              <a:rPr lang="en-US" sz="1000">
                <a:solidFill>
                  <a:srgbClr val="313130"/>
                </a:solidFill>
                <a:latin typeface="Swiss 721 Devanagari Light"/>
                <a:ea typeface="Swiss 721 Devanagari Light"/>
                <a:cs typeface="Swiss 721 Devanagari Light"/>
                <a:sym typeface="Swiss 721 Devanagari Light"/>
              </a:rPr>
              <a:t>and the recurrence rates are high.</a:t>
            </a:r>
          </a:p>
          <a:p>
            <a:pPr algn="just">
              <a:lnSpc>
                <a:spcPts val="1199"/>
              </a:lnSpc>
            </a:pPr>
            <a:r>
              <a:rPr lang="en-US" sz="1000">
                <a:solidFill>
                  <a:srgbClr val="313130"/>
                </a:solidFill>
                <a:latin typeface="Swiss 721 Devanagari Light"/>
                <a:ea typeface="Swiss 721 Devanagari Light"/>
                <a:cs typeface="Swiss 721 Devanagari Light"/>
                <a:sym typeface="Swiss 721 Devanagari Light"/>
              </a:rPr>
              <a:t>Since the disease state is minimal, it’s not required to perform extensive procedure as no major abnormalities are associated with the disease. The patient has understood the pros and cons of both the procedure and has opted for sinuplasty which has been the standard of care in many countries today.</a:t>
            </a:r>
          </a:p>
          <a:p>
            <a:pPr algn="just">
              <a:lnSpc>
                <a:spcPts val="2520"/>
              </a:lnSpc>
            </a:pPr>
            <a:r>
              <a:rPr lang="en-US" b="true" sz="1800">
                <a:solidFill>
                  <a:srgbClr val="5E97CE"/>
                </a:solidFill>
                <a:latin typeface="Swiss 721 Devanagari Bold"/>
                <a:ea typeface="Swiss 721 Devanagari Bold"/>
                <a:cs typeface="Swiss 721 Devanagari Bold"/>
                <a:sym typeface="Swiss 721 Devanagari Bold"/>
              </a:rPr>
              <a:t>Benefits of Balloon Sinus Dilation Procedure:</a:t>
            </a:r>
          </a:p>
        </p:txBody>
      </p:sp>
      <p:sp>
        <p:nvSpPr>
          <p:cNvPr name="TextBox 25" id="25"/>
          <p:cNvSpPr txBox="true"/>
          <p:nvPr/>
        </p:nvSpPr>
        <p:spPr>
          <a:xfrm rot="0">
            <a:off x="359054" y="2523344"/>
            <a:ext cx="6996960" cy="335451"/>
          </a:xfrm>
          <a:prstGeom prst="rect">
            <a:avLst/>
          </a:prstGeom>
        </p:spPr>
        <p:txBody>
          <a:bodyPr anchor="t" rtlCol="false" tIns="0" lIns="0" bIns="0" rIns="0">
            <a:spAutoFit/>
          </a:bodyPr>
          <a:lstStyle/>
          <a:p>
            <a:pPr algn="l">
              <a:lnSpc>
                <a:spcPts val="1199"/>
              </a:lnSpc>
            </a:pPr>
            <a:r>
              <a:rPr lang="en-US" sz="1000" spc="9">
                <a:solidFill>
                  <a:srgbClr val="313130"/>
                </a:solidFill>
                <a:latin typeface="Swiss 721 Devanagari Light"/>
                <a:ea typeface="Swiss 721 Devanagari Light"/>
                <a:cs typeface="Swiss 721 Devanagari Light"/>
                <a:sym typeface="Swiss 721 Devanagari Light"/>
              </a:rPr>
              <a:t>An abnormal CT during treatment with post-treatment normalization with 3 or more recurrences per year with each episode lasting less than 2 weeks.</a:t>
            </a:r>
          </a:p>
        </p:txBody>
      </p:sp>
      <p:sp>
        <p:nvSpPr>
          <p:cNvPr name="TextBox 26" id="26"/>
          <p:cNvSpPr txBox="true"/>
          <p:nvPr/>
        </p:nvSpPr>
        <p:spPr>
          <a:xfrm rot="0">
            <a:off x="6061091" y="9795548"/>
            <a:ext cx="938517" cy="183232"/>
          </a:xfrm>
          <a:prstGeom prst="rect">
            <a:avLst/>
          </a:prstGeom>
        </p:spPr>
        <p:txBody>
          <a:bodyPr anchor="t" rtlCol="false" tIns="0" lIns="0" bIns="0" rIns="0">
            <a:spAutoFit/>
          </a:bodyPr>
          <a:lstStyle/>
          <a:p>
            <a:pPr algn="l">
              <a:lnSpc>
                <a:spcPts val="1199"/>
              </a:lnSpc>
            </a:pPr>
            <a:r>
              <a:rPr lang="en-US" sz="1000">
                <a:solidFill>
                  <a:srgbClr val="313130"/>
                </a:solidFill>
                <a:latin typeface="Swiss 721 Devanagari Light"/>
                <a:ea typeface="Swiss 721 Devanagari Light"/>
                <a:cs typeface="Swiss 721 Devanagari Light"/>
                <a:sym typeface="Swiss 721 Devanagari Light"/>
              </a:rPr>
              <a:t>4. The system is </a:t>
            </a:r>
          </a:p>
        </p:txBody>
      </p:sp>
      <p:sp>
        <p:nvSpPr>
          <p:cNvPr name="TextBox 27" id="27"/>
          <p:cNvSpPr txBox="true"/>
          <p:nvPr/>
        </p:nvSpPr>
        <p:spPr>
          <a:xfrm rot="0">
            <a:off x="6196213" y="9947767"/>
            <a:ext cx="989162" cy="335451"/>
          </a:xfrm>
          <a:prstGeom prst="rect">
            <a:avLst/>
          </a:prstGeom>
        </p:spPr>
        <p:txBody>
          <a:bodyPr anchor="t" rtlCol="false" tIns="0" lIns="0" bIns="0" rIns="0">
            <a:spAutoFit/>
          </a:bodyPr>
          <a:lstStyle/>
          <a:p>
            <a:pPr algn="l">
              <a:lnSpc>
                <a:spcPts val="1199"/>
              </a:lnSpc>
            </a:pPr>
            <a:r>
              <a:rPr lang="en-US" sz="1000">
                <a:solidFill>
                  <a:srgbClr val="313130"/>
                </a:solidFill>
                <a:latin typeface="Swiss 721 Devanagari Light"/>
                <a:ea typeface="Swiss 721 Devanagari Light"/>
                <a:cs typeface="Swiss 721 Devanagari Light"/>
                <a:sym typeface="Swiss 721 Devanagari Light"/>
              </a:rPr>
              <a:t>removed leaving the sinuses open.</a:t>
            </a:r>
          </a:p>
        </p:txBody>
      </p:sp>
      <p:sp>
        <p:nvSpPr>
          <p:cNvPr name="TextBox 28" id="28"/>
          <p:cNvSpPr txBox="true"/>
          <p:nvPr/>
        </p:nvSpPr>
        <p:spPr>
          <a:xfrm rot="0">
            <a:off x="362064" y="1722158"/>
            <a:ext cx="7022249" cy="487680"/>
          </a:xfrm>
          <a:prstGeom prst="rect">
            <a:avLst/>
          </a:prstGeom>
        </p:spPr>
        <p:txBody>
          <a:bodyPr anchor="t" rtlCol="false" tIns="0" lIns="0" bIns="0" rIns="0">
            <a:spAutoFit/>
          </a:bodyPr>
          <a:lstStyle/>
          <a:p>
            <a:pPr algn="just">
              <a:lnSpc>
                <a:spcPts val="1199"/>
              </a:lnSpc>
            </a:pPr>
            <a:r>
              <a:rPr lang="en-US" sz="1000" spc="10">
                <a:solidFill>
                  <a:srgbClr val="313130"/>
                </a:solidFill>
                <a:latin typeface="Swiss 721 Devanagari Light"/>
                <a:ea typeface="Swiss 721 Devanagari Light"/>
                <a:cs typeface="Swiss 721 Devanagari Light"/>
                <a:sym typeface="Swiss 721 Devanagari Light"/>
              </a:rPr>
              <a:t>Patients with history of persistent rhinosinusitis (all sinuses) lasting greater than 12 weeks, despite medical management of antibiotics, topical steroids and allergic management or patients with persistently abnormal CT after at least 4 weeks of continuous antibiotic treatment.</a:t>
            </a:r>
          </a:p>
        </p:txBody>
      </p:sp>
      <p:sp>
        <p:nvSpPr>
          <p:cNvPr name="TextBox 29" id="29"/>
          <p:cNvSpPr txBox="true"/>
          <p:nvPr/>
        </p:nvSpPr>
        <p:spPr>
          <a:xfrm rot="0">
            <a:off x="348805" y="194481"/>
            <a:ext cx="660140" cy="275568"/>
          </a:xfrm>
          <a:prstGeom prst="rect">
            <a:avLst/>
          </a:prstGeom>
        </p:spPr>
        <p:txBody>
          <a:bodyPr anchor="t" rtlCol="false" tIns="0" lIns="0" bIns="0" rIns="0">
            <a:spAutoFit/>
          </a:bodyPr>
          <a:lstStyle/>
          <a:p>
            <a:pPr algn="l">
              <a:lnSpc>
                <a:spcPts val="1959"/>
              </a:lnSpc>
            </a:pPr>
            <a:r>
              <a:rPr lang="en-US" b="true" sz="1399">
                <a:solidFill>
                  <a:srgbClr val="5E97CE"/>
                </a:solidFill>
                <a:latin typeface="Swiss 721 Devanagari Bold"/>
                <a:ea typeface="Swiss 721 Devanagari Bold"/>
                <a:cs typeface="Swiss 721 Devanagari Bold"/>
                <a:sym typeface="Swiss 721 Devanagari Bold"/>
              </a:rPr>
              <a:t>Proven </a:t>
            </a:r>
          </a:p>
        </p:txBody>
      </p:sp>
      <p:sp>
        <p:nvSpPr>
          <p:cNvPr name="TextBox 30" id="30"/>
          <p:cNvSpPr txBox="true"/>
          <p:nvPr/>
        </p:nvSpPr>
        <p:spPr>
          <a:xfrm rot="0">
            <a:off x="356445" y="1082164"/>
            <a:ext cx="1186415" cy="275568"/>
          </a:xfrm>
          <a:prstGeom prst="rect">
            <a:avLst/>
          </a:prstGeom>
        </p:spPr>
        <p:txBody>
          <a:bodyPr anchor="t" rtlCol="false" tIns="0" lIns="0" bIns="0" rIns="0">
            <a:spAutoFit/>
          </a:bodyPr>
          <a:lstStyle/>
          <a:p>
            <a:pPr algn="l">
              <a:lnSpc>
                <a:spcPts val="1959"/>
              </a:lnSpc>
            </a:pPr>
            <a:r>
              <a:rPr lang="en-US" sz="1399">
                <a:solidFill>
                  <a:srgbClr val="313130"/>
                </a:solidFill>
                <a:latin typeface="Swiss 721 Devanagari Light"/>
                <a:ea typeface="Swiss 721 Devanagari Light"/>
                <a:cs typeface="Swiss 721 Devanagari Light"/>
                <a:sym typeface="Swiss 721 Devanagari Light"/>
              </a:rPr>
              <a:t>INDICATIONS: </a:t>
            </a:r>
          </a:p>
        </p:txBody>
      </p:sp>
      <p:sp>
        <p:nvSpPr>
          <p:cNvPr name="TextBox 31" id="31"/>
          <p:cNvSpPr txBox="true"/>
          <p:nvPr/>
        </p:nvSpPr>
        <p:spPr>
          <a:xfrm rot="0">
            <a:off x="1519609" y="1023214"/>
            <a:ext cx="2965123" cy="331270"/>
          </a:xfrm>
          <a:prstGeom prst="rect">
            <a:avLst/>
          </a:prstGeom>
        </p:spPr>
        <p:txBody>
          <a:bodyPr anchor="t" rtlCol="false" tIns="0" lIns="0" bIns="0" rIns="0">
            <a:spAutoFit/>
          </a:bodyPr>
          <a:lstStyle/>
          <a:p>
            <a:pPr algn="l">
              <a:lnSpc>
                <a:spcPts val="2240"/>
              </a:lnSpc>
            </a:pPr>
            <a:r>
              <a:rPr lang="en-US" b="true" sz="1600">
                <a:solidFill>
                  <a:srgbClr val="5E97CE"/>
                </a:solidFill>
                <a:latin typeface="Swiss 721 Devanagari Bold"/>
                <a:ea typeface="Swiss 721 Devanagari Bold"/>
                <a:cs typeface="Swiss 721 Devanagari Bold"/>
                <a:sym typeface="Swiss 721 Devanagari Bold"/>
              </a:rPr>
              <a:t>Balloon Sinus Dilation System</a:t>
            </a:r>
          </a:p>
        </p:txBody>
      </p:sp>
      <p:sp>
        <p:nvSpPr>
          <p:cNvPr name="TextBox 32" id="32"/>
          <p:cNvSpPr txBox="true"/>
          <p:nvPr/>
        </p:nvSpPr>
        <p:spPr>
          <a:xfrm rot="0">
            <a:off x="373199" y="3052362"/>
            <a:ext cx="1349416" cy="201892"/>
          </a:xfrm>
          <a:prstGeom prst="rect">
            <a:avLst/>
          </a:prstGeom>
        </p:spPr>
        <p:txBody>
          <a:bodyPr anchor="t" rtlCol="false" tIns="0" lIns="0" bIns="0" rIns="0">
            <a:spAutoFit/>
          </a:bodyPr>
          <a:lstStyle/>
          <a:p>
            <a:pPr algn="l">
              <a:lnSpc>
                <a:spcPts val="1679"/>
              </a:lnSpc>
            </a:pPr>
            <a:r>
              <a:rPr lang="en-US" sz="1200" spc="-13">
                <a:solidFill>
                  <a:srgbClr val="313130"/>
                </a:solidFill>
                <a:latin typeface="IBM Plex Sans"/>
                <a:ea typeface="IBM Plex Sans"/>
                <a:cs typeface="IBM Plex Sans"/>
                <a:sym typeface="IBM Plex Sans"/>
              </a:rPr>
              <a:t>3. Revision Surgery</a:t>
            </a:r>
          </a:p>
        </p:txBody>
      </p:sp>
      <p:sp>
        <p:nvSpPr>
          <p:cNvPr name="TextBox 33" id="33"/>
          <p:cNvSpPr txBox="true"/>
          <p:nvPr/>
        </p:nvSpPr>
        <p:spPr>
          <a:xfrm rot="0">
            <a:off x="362379" y="1574854"/>
            <a:ext cx="2146240" cy="201892"/>
          </a:xfrm>
          <a:prstGeom prst="rect">
            <a:avLst/>
          </a:prstGeom>
        </p:spPr>
        <p:txBody>
          <a:bodyPr anchor="t" rtlCol="false" tIns="0" lIns="0" bIns="0" rIns="0">
            <a:spAutoFit/>
          </a:bodyPr>
          <a:lstStyle/>
          <a:p>
            <a:pPr algn="l">
              <a:lnSpc>
                <a:spcPts val="1679"/>
              </a:lnSpc>
            </a:pPr>
            <a:r>
              <a:rPr lang="en-US" sz="1200" spc="-13">
                <a:solidFill>
                  <a:srgbClr val="313130"/>
                </a:solidFill>
                <a:latin typeface="IBM Plex Sans"/>
                <a:ea typeface="IBM Plex Sans"/>
                <a:cs typeface="IBM Plex Sans"/>
                <a:sym typeface="IBM Plex Sans"/>
              </a:rPr>
              <a:t>1. Chronic Rhinosinusits (CRS)</a:t>
            </a:r>
          </a:p>
        </p:txBody>
      </p:sp>
      <p:sp>
        <p:nvSpPr>
          <p:cNvPr name="TextBox 34" id="34"/>
          <p:cNvSpPr txBox="true"/>
          <p:nvPr/>
        </p:nvSpPr>
        <p:spPr>
          <a:xfrm rot="0">
            <a:off x="371980" y="2375240"/>
            <a:ext cx="2335111" cy="201892"/>
          </a:xfrm>
          <a:prstGeom prst="rect">
            <a:avLst/>
          </a:prstGeom>
        </p:spPr>
        <p:txBody>
          <a:bodyPr anchor="t" rtlCol="false" tIns="0" lIns="0" bIns="0" rIns="0">
            <a:spAutoFit/>
          </a:bodyPr>
          <a:lstStyle/>
          <a:p>
            <a:pPr algn="l">
              <a:lnSpc>
                <a:spcPts val="1679"/>
              </a:lnSpc>
            </a:pPr>
            <a:r>
              <a:rPr lang="en-US" sz="1200" spc="-13">
                <a:solidFill>
                  <a:srgbClr val="313130"/>
                </a:solidFill>
                <a:latin typeface="IBM Plex Sans"/>
                <a:ea typeface="IBM Plex Sans"/>
                <a:cs typeface="IBM Plex Sans"/>
                <a:sym typeface="IBM Plex Sans"/>
              </a:rPr>
              <a:t>2. Recurrent Acute Rhinosinusitis </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699603" y="7150284"/>
            <a:ext cx="4166530" cy="765905"/>
            <a:chOff x="0" y="0"/>
            <a:chExt cx="5555374" cy="1021207"/>
          </a:xfrm>
        </p:grpSpPr>
        <p:sp>
          <p:nvSpPr>
            <p:cNvPr name="Freeform 3" id="3"/>
            <p:cNvSpPr/>
            <p:nvPr/>
          </p:nvSpPr>
          <p:spPr>
            <a:xfrm flipH="false" flipV="false" rot="0">
              <a:off x="0" y="0"/>
              <a:ext cx="5555361" cy="1021207"/>
            </a:xfrm>
            <a:custGeom>
              <a:avLst/>
              <a:gdLst/>
              <a:ahLst/>
              <a:cxnLst/>
              <a:rect r="r" b="b" t="t" l="l"/>
              <a:pathLst>
                <a:path h="1021207" w="5555361">
                  <a:moveTo>
                    <a:pt x="0" y="0"/>
                  </a:moveTo>
                  <a:lnTo>
                    <a:pt x="5555361" y="0"/>
                  </a:lnTo>
                  <a:lnTo>
                    <a:pt x="5555361" y="1021207"/>
                  </a:lnTo>
                  <a:lnTo>
                    <a:pt x="0" y="1021207"/>
                  </a:lnTo>
                  <a:lnTo>
                    <a:pt x="0" y="0"/>
                  </a:lnTo>
                  <a:close/>
                </a:path>
              </a:pathLst>
            </a:custGeom>
            <a:blipFill>
              <a:blip r:embed="rId2"/>
              <a:stretch>
                <a:fillRect l="-77" t="-123" r="0" b="-197"/>
              </a:stretch>
            </a:blipFill>
          </p:spPr>
        </p:sp>
      </p:grpSp>
      <p:sp>
        <p:nvSpPr>
          <p:cNvPr name="Freeform 4" id="4"/>
          <p:cNvSpPr/>
          <p:nvPr/>
        </p:nvSpPr>
        <p:spPr>
          <a:xfrm flipH="false" flipV="false" rot="0">
            <a:off x="-63503" y="-63503"/>
            <a:ext cx="7686027" cy="10819000"/>
          </a:xfrm>
          <a:custGeom>
            <a:avLst/>
            <a:gdLst/>
            <a:ahLst/>
            <a:cxnLst/>
            <a:rect r="r" b="b" t="t" l="l"/>
            <a:pathLst>
              <a:path h="10819000" w="7686027">
                <a:moveTo>
                  <a:pt x="0" y="0"/>
                </a:moveTo>
                <a:lnTo>
                  <a:pt x="7686027" y="0"/>
                </a:lnTo>
                <a:lnTo>
                  <a:pt x="7686027" y="10819000"/>
                </a:lnTo>
                <a:lnTo>
                  <a:pt x="0" y="1081900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5" id="5"/>
          <p:cNvGrpSpPr/>
          <p:nvPr/>
        </p:nvGrpSpPr>
        <p:grpSpPr>
          <a:xfrm rot="0">
            <a:off x="938193" y="1580455"/>
            <a:ext cx="6244990" cy="1514846"/>
            <a:chOff x="0" y="0"/>
            <a:chExt cx="8326653" cy="2019795"/>
          </a:xfrm>
        </p:grpSpPr>
        <p:sp>
          <p:nvSpPr>
            <p:cNvPr name="Freeform 6" id="6"/>
            <p:cNvSpPr/>
            <p:nvPr/>
          </p:nvSpPr>
          <p:spPr>
            <a:xfrm flipH="false" flipV="false" rot="0">
              <a:off x="0" y="0"/>
              <a:ext cx="8326628" cy="2019808"/>
            </a:xfrm>
            <a:custGeom>
              <a:avLst/>
              <a:gdLst/>
              <a:ahLst/>
              <a:cxnLst/>
              <a:rect r="r" b="b" t="t" l="l"/>
              <a:pathLst>
                <a:path h="2019808" w="8326628">
                  <a:moveTo>
                    <a:pt x="0" y="0"/>
                  </a:moveTo>
                  <a:lnTo>
                    <a:pt x="8326628" y="0"/>
                  </a:lnTo>
                  <a:lnTo>
                    <a:pt x="8326628" y="2019808"/>
                  </a:lnTo>
                  <a:lnTo>
                    <a:pt x="0" y="2019808"/>
                  </a:lnTo>
                  <a:lnTo>
                    <a:pt x="0" y="0"/>
                  </a:lnTo>
                  <a:close/>
                </a:path>
              </a:pathLst>
            </a:custGeom>
            <a:blipFill>
              <a:blip r:embed="rId5"/>
              <a:stretch>
                <a:fillRect l="-7" t="-37" r="0" b="-188"/>
              </a:stretch>
            </a:blipFill>
          </p:spPr>
        </p:sp>
      </p:grpSp>
      <p:sp>
        <p:nvSpPr>
          <p:cNvPr name="Freeform 7" id="7"/>
          <p:cNvSpPr/>
          <p:nvPr/>
        </p:nvSpPr>
        <p:spPr>
          <a:xfrm flipH="false" flipV="false" rot="0">
            <a:off x="1301858" y="1634785"/>
            <a:ext cx="4240911" cy="1208256"/>
          </a:xfrm>
          <a:custGeom>
            <a:avLst/>
            <a:gdLst/>
            <a:ahLst/>
            <a:cxnLst/>
            <a:rect r="r" b="b" t="t" l="l"/>
            <a:pathLst>
              <a:path h="1208256" w="4240911">
                <a:moveTo>
                  <a:pt x="0" y="0"/>
                </a:moveTo>
                <a:lnTo>
                  <a:pt x="4240911" y="0"/>
                </a:lnTo>
                <a:lnTo>
                  <a:pt x="4240911" y="1208256"/>
                </a:lnTo>
                <a:lnTo>
                  <a:pt x="0" y="1208256"/>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8" id="8"/>
          <p:cNvSpPr/>
          <p:nvPr/>
        </p:nvSpPr>
        <p:spPr>
          <a:xfrm flipH="false" flipV="false" rot="0">
            <a:off x="5688559" y="2998384"/>
            <a:ext cx="36538" cy="36528"/>
          </a:xfrm>
          <a:custGeom>
            <a:avLst/>
            <a:gdLst/>
            <a:ahLst/>
            <a:cxnLst/>
            <a:rect r="r" b="b" t="t" l="l"/>
            <a:pathLst>
              <a:path h="36528" w="36538">
                <a:moveTo>
                  <a:pt x="0" y="0"/>
                </a:moveTo>
                <a:lnTo>
                  <a:pt x="36537" y="0"/>
                </a:lnTo>
                <a:lnTo>
                  <a:pt x="36537" y="36529"/>
                </a:lnTo>
                <a:lnTo>
                  <a:pt x="0" y="36529"/>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9" id="9"/>
          <p:cNvSpPr/>
          <p:nvPr/>
        </p:nvSpPr>
        <p:spPr>
          <a:xfrm flipH="false" flipV="false" rot="0">
            <a:off x="6840522" y="2760869"/>
            <a:ext cx="36538" cy="36528"/>
          </a:xfrm>
          <a:custGeom>
            <a:avLst/>
            <a:gdLst/>
            <a:ahLst/>
            <a:cxnLst/>
            <a:rect r="r" b="b" t="t" l="l"/>
            <a:pathLst>
              <a:path h="36528" w="36538">
                <a:moveTo>
                  <a:pt x="0" y="0"/>
                </a:moveTo>
                <a:lnTo>
                  <a:pt x="36538" y="0"/>
                </a:lnTo>
                <a:lnTo>
                  <a:pt x="36538" y="36528"/>
                </a:lnTo>
                <a:lnTo>
                  <a:pt x="0" y="36528"/>
                </a:lnTo>
                <a:lnTo>
                  <a:pt x="0" y="0"/>
                </a:lnTo>
                <a:close/>
              </a:path>
            </a:pathLst>
          </a:custGeom>
          <a:blipFill>
            <a:blip r:embed="rId8">
              <a:extLst>
                <a:ext uri="{96DAC541-7B7A-43D3-8B79-37D633B846F1}">
                  <asvg:svgBlip xmlns:asvg="http://schemas.microsoft.com/office/drawing/2016/SVG/main" r:embed="rId10"/>
                </a:ext>
              </a:extLst>
            </a:blip>
            <a:stretch>
              <a:fillRect l="0" t="0" r="0" b="0"/>
            </a:stretch>
          </a:blipFill>
        </p:spPr>
      </p:sp>
      <p:grpSp>
        <p:nvGrpSpPr>
          <p:cNvPr name="Group 10" id="10"/>
          <p:cNvGrpSpPr/>
          <p:nvPr/>
        </p:nvGrpSpPr>
        <p:grpSpPr>
          <a:xfrm rot="-10800000">
            <a:off x="1069848" y="9198845"/>
            <a:ext cx="5897880" cy="1228344"/>
            <a:chOff x="0" y="0"/>
            <a:chExt cx="7863840" cy="1637792"/>
          </a:xfrm>
        </p:grpSpPr>
        <p:sp>
          <p:nvSpPr>
            <p:cNvPr name="Freeform 11" id="11"/>
            <p:cNvSpPr/>
            <p:nvPr/>
          </p:nvSpPr>
          <p:spPr>
            <a:xfrm flipH="false" flipV="false" rot="0">
              <a:off x="0" y="0"/>
              <a:ext cx="7863840" cy="1637792"/>
            </a:xfrm>
            <a:custGeom>
              <a:avLst/>
              <a:gdLst/>
              <a:ahLst/>
              <a:cxnLst/>
              <a:rect r="r" b="b" t="t" l="l"/>
              <a:pathLst>
                <a:path h="1637792" w="7863840">
                  <a:moveTo>
                    <a:pt x="0" y="0"/>
                  </a:moveTo>
                  <a:lnTo>
                    <a:pt x="7863840" y="0"/>
                  </a:lnTo>
                  <a:lnTo>
                    <a:pt x="7863840" y="1637792"/>
                  </a:lnTo>
                  <a:lnTo>
                    <a:pt x="0" y="1637792"/>
                  </a:lnTo>
                  <a:lnTo>
                    <a:pt x="0" y="0"/>
                  </a:lnTo>
                  <a:close/>
                </a:path>
              </a:pathLst>
            </a:custGeom>
            <a:blipFill>
              <a:blip r:embed="rId11"/>
              <a:stretch>
                <a:fillRect l="0" t="0" r="0" b="0"/>
              </a:stretch>
            </a:blipFill>
          </p:spPr>
        </p:sp>
      </p:grpSp>
      <p:sp>
        <p:nvSpPr>
          <p:cNvPr name="Freeform 12" id="12"/>
          <p:cNvSpPr/>
          <p:nvPr/>
        </p:nvSpPr>
        <p:spPr>
          <a:xfrm flipH="false" flipV="false" rot="0">
            <a:off x="3017682" y="9619545"/>
            <a:ext cx="163525" cy="497881"/>
          </a:xfrm>
          <a:custGeom>
            <a:avLst/>
            <a:gdLst/>
            <a:ahLst/>
            <a:cxnLst/>
            <a:rect r="r" b="b" t="t" l="l"/>
            <a:pathLst>
              <a:path h="497881" w="163525">
                <a:moveTo>
                  <a:pt x="0" y="0"/>
                </a:moveTo>
                <a:lnTo>
                  <a:pt x="163525" y="0"/>
                </a:lnTo>
                <a:lnTo>
                  <a:pt x="163525" y="497881"/>
                </a:lnTo>
                <a:lnTo>
                  <a:pt x="0" y="497881"/>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Freeform 13" id="13"/>
          <p:cNvSpPr/>
          <p:nvPr/>
        </p:nvSpPr>
        <p:spPr>
          <a:xfrm flipH="false" flipV="false" rot="0">
            <a:off x="5968146" y="9616364"/>
            <a:ext cx="493957" cy="350901"/>
          </a:xfrm>
          <a:custGeom>
            <a:avLst/>
            <a:gdLst/>
            <a:ahLst/>
            <a:cxnLst/>
            <a:rect r="r" b="b" t="t" l="l"/>
            <a:pathLst>
              <a:path h="350901" w="493957">
                <a:moveTo>
                  <a:pt x="0" y="0"/>
                </a:moveTo>
                <a:lnTo>
                  <a:pt x="493957" y="0"/>
                </a:lnTo>
                <a:lnTo>
                  <a:pt x="493957" y="350901"/>
                </a:lnTo>
                <a:lnTo>
                  <a:pt x="0" y="350901"/>
                </a:lnTo>
                <a:lnTo>
                  <a:pt x="0" y="0"/>
                </a:lnTo>
                <a:close/>
              </a:path>
            </a:pathLst>
          </a:custGeom>
          <a:blipFill>
            <a:blip r:embed="rId14">
              <a:extLst>
                <a:ext uri="{96DAC541-7B7A-43D3-8B79-37D633B846F1}">
                  <asvg:svgBlip xmlns:asvg="http://schemas.microsoft.com/office/drawing/2016/SVG/main" r:embed="rId15"/>
                </a:ext>
              </a:extLst>
            </a:blip>
            <a:stretch>
              <a:fillRect l="0" t="0" r="0" b="0"/>
            </a:stretch>
          </a:blipFill>
        </p:spPr>
      </p:sp>
      <p:sp>
        <p:nvSpPr>
          <p:cNvPr name="TextBox 14" id="14"/>
          <p:cNvSpPr txBox="true"/>
          <p:nvPr/>
        </p:nvSpPr>
        <p:spPr>
          <a:xfrm rot="0">
            <a:off x="1059399" y="8269615"/>
            <a:ext cx="96441" cy="53511"/>
          </a:xfrm>
          <a:prstGeom prst="rect">
            <a:avLst/>
          </a:prstGeom>
        </p:spPr>
        <p:txBody>
          <a:bodyPr anchor="t" rtlCol="false" tIns="0" lIns="0" bIns="0" rIns="0">
            <a:spAutoFit/>
          </a:bodyPr>
          <a:lstStyle/>
          <a:p>
            <a:pPr algn="l">
              <a:lnSpc>
                <a:spcPts val="281"/>
              </a:lnSpc>
            </a:pPr>
            <a:r>
              <a:rPr lang="en-US" b="true" sz="500" spc="11">
                <a:solidFill>
                  <a:srgbClr val="5E97CE"/>
                </a:solidFill>
                <a:latin typeface="Swiss 721 Devanagari Bold"/>
                <a:ea typeface="Swiss 721 Devanagari Bold"/>
                <a:cs typeface="Swiss 721 Devanagari Bold"/>
                <a:sym typeface="Swiss 721 Devanagari Bold"/>
              </a:rPr>
              <a:t>TM</a:t>
            </a:r>
          </a:p>
        </p:txBody>
      </p:sp>
      <p:sp>
        <p:nvSpPr>
          <p:cNvPr name="TextBox 15" id="15"/>
          <p:cNvSpPr txBox="true"/>
          <p:nvPr/>
        </p:nvSpPr>
        <p:spPr>
          <a:xfrm rot="0">
            <a:off x="359978" y="8274206"/>
            <a:ext cx="1401147" cy="161268"/>
          </a:xfrm>
          <a:prstGeom prst="rect">
            <a:avLst/>
          </a:prstGeom>
        </p:spPr>
        <p:txBody>
          <a:bodyPr anchor="t" rtlCol="false" tIns="0" lIns="0" bIns="0" rIns="0">
            <a:spAutoFit/>
          </a:bodyPr>
          <a:lstStyle/>
          <a:p>
            <a:pPr algn="l">
              <a:lnSpc>
                <a:spcPts val="788"/>
              </a:lnSpc>
            </a:pPr>
            <a:r>
              <a:rPr lang="en-US" b="true" sz="1399" spc="12">
                <a:solidFill>
                  <a:srgbClr val="5E97CE"/>
                </a:solidFill>
                <a:latin typeface="Swiss 721 Devanagari Bold"/>
                <a:ea typeface="Swiss 721 Devanagari Bold"/>
                <a:cs typeface="Swiss 721 Devanagari Bold"/>
                <a:sym typeface="Swiss 721 Devanagari Bold"/>
              </a:rPr>
              <a:t>MESIRE Latch:</a:t>
            </a:r>
          </a:p>
        </p:txBody>
      </p:sp>
      <p:sp>
        <p:nvSpPr>
          <p:cNvPr name="TextBox 16" id="16"/>
          <p:cNvSpPr txBox="true"/>
          <p:nvPr/>
        </p:nvSpPr>
        <p:spPr>
          <a:xfrm rot="0">
            <a:off x="1050103" y="706774"/>
            <a:ext cx="94955" cy="53511"/>
          </a:xfrm>
          <a:prstGeom prst="rect">
            <a:avLst/>
          </a:prstGeom>
        </p:spPr>
        <p:txBody>
          <a:bodyPr anchor="t" rtlCol="false" tIns="0" lIns="0" bIns="0" rIns="0">
            <a:spAutoFit/>
          </a:bodyPr>
          <a:lstStyle/>
          <a:p>
            <a:pPr algn="l">
              <a:lnSpc>
                <a:spcPts val="281"/>
              </a:lnSpc>
            </a:pPr>
            <a:r>
              <a:rPr lang="en-US" b="true" sz="500">
                <a:solidFill>
                  <a:srgbClr val="5E97CE"/>
                </a:solidFill>
                <a:latin typeface="Swiss 721 Devanagari Bold"/>
                <a:ea typeface="Swiss 721 Devanagari Bold"/>
                <a:cs typeface="Swiss 721 Devanagari Bold"/>
                <a:sym typeface="Swiss 721 Devanagari Bold"/>
              </a:rPr>
              <a:t>TM</a:t>
            </a:r>
          </a:p>
        </p:txBody>
      </p:sp>
      <p:sp>
        <p:nvSpPr>
          <p:cNvPr name="TextBox 17" id="17"/>
          <p:cNvSpPr txBox="true"/>
          <p:nvPr/>
        </p:nvSpPr>
        <p:spPr>
          <a:xfrm rot="0">
            <a:off x="362798" y="711375"/>
            <a:ext cx="2876941" cy="161268"/>
          </a:xfrm>
          <a:prstGeom prst="rect">
            <a:avLst/>
          </a:prstGeom>
        </p:spPr>
        <p:txBody>
          <a:bodyPr anchor="t" rtlCol="false" tIns="0" lIns="0" bIns="0" rIns="0">
            <a:spAutoFit/>
          </a:bodyPr>
          <a:lstStyle/>
          <a:p>
            <a:pPr algn="l">
              <a:lnSpc>
                <a:spcPts val="788"/>
              </a:lnSpc>
            </a:pPr>
            <a:r>
              <a:rPr lang="en-US" b="true" sz="1399">
                <a:solidFill>
                  <a:srgbClr val="5E97CE"/>
                </a:solidFill>
                <a:latin typeface="Swiss 721 Devanagari Bold"/>
                <a:ea typeface="Swiss 721 Devanagari Bold"/>
                <a:cs typeface="Swiss 721 Devanagari Bold"/>
                <a:sym typeface="Swiss 721 Devanagari Bold"/>
              </a:rPr>
              <a:t>MESIRE Sinus Balloon Catheter:</a:t>
            </a:r>
          </a:p>
        </p:txBody>
      </p:sp>
      <p:sp>
        <p:nvSpPr>
          <p:cNvPr name="TextBox 18" id="18"/>
          <p:cNvSpPr txBox="true"/>
          <p:nvPr/>
        </p:nvSpPr>
        <p:spPr>
          <a:xfrm rot="0">
            <a:off x="1059399" y="5772036"/>
            <a:ext cx="96441" cy="120186"/>
          </a:xfrm>
          <a:prstGeom prst="rect">
            <a:avLst/>
          </a:prstGeom>
        </p:spPr>
        <p:txBody>
          <a:bodyPr anchor="t" rtlCol="false" tIns="0" lIns="0" bIns="0" rIns="0">
            <a:spAutoFit/>
          </a:bodyPr>
          <a:lstStyle/>
          <a:p>
            <a:pPr algn="l">
              <a:lnSpc>
                <a:spcPts val="965"/>
              </a:lnSpc>
            </a:pPr>
            <a:r>
              <a:rPr lang="en-US" b="true" sz="500" spc="11">
                <a:solidFill>
                  <a:srgbClr val="5E97CE"/>
                </a:solidFill>
                <a:latin typeface="Swiss 721 Devanagari Bold"/>
                <a:ea typeface="Swiss 721 Devanagari Bold"/>
                <a:cs typeface="Swiss 721 Devanagari Bold"/>
                <a:sym typeface="Swiss 721 Devanagari Bold"/>
              </a:rPr>
              <a:t>TM</a:t>
            </a:r>
          </a:p>
        </p:txBody>
      </p:sp>
      <p:sp>
        <p:nvSpPr>
          <p:cNvPr name="TextBox 19" id="19"/>
          <p:cNvSpPr txBox="true"/>
          <p:nvPr/>
        </p:nvSpPr>
        <p:spPr>
          <a:xfrm rot="0">
            <a:off x="359978" y="5652802"/>
            <a:ext cx="3363135" cy="351768"/>
          </a:xfrm>
          <a:prstGeom prst="rect">
            <a:avLst/>
          </a:prstGeom>
        </p:spPr>
        <p:txBody>
          <a:bodyPr anchor="t" rtlCol="false" tIns="0" lIns="0" bIns="0" rIns="0">
            <a:spAutoFit/>
          </a:bodyPr>
          <a:lstStyle/>
          <a:p>
            <a:pPr algn="l">
              <a:lnSpc>
                <a:spcPts val="2701"/>
              </a:lnSpc>
            </a:pPr>
            <a:r>
              <a:rPr lang="en-US" b="true" sz="1399">
                <a:solidFill>
                  <a:srgbClr val="5E97CE"/>
                </a:solidFill>
                <a:latin typeface="Swiss 721 Devanagari Bold"/>
                <a:ea typeface="Swiss 721 Devanagari Bold"/>
                <a:cs typeface="Swiss 721 Devanagari Bold"/>
                <a:sym typeface="Swiss 721 Devanagari Bold"/>
              </a:rPr>
              <a:t>MESIRE Guide Sinus Guide Catheter:</a:t>
            </a:r>
          </a:p>
        </p:txBody>
      </p:sp>
      <p:sp>
        <p:nvSpPr>
          <p:cNvPr name="TextBox 20" id="20"/>
          <p:cNvSpPr txBox="true"/>
          <p:nvPr/>
        </p:nvSpPr>
        <p:spPr>
          <a:xfrm rot="0">
            <a:off x="3054020" y="6058091"/>
            <a:ext cx="36138" cy="120186"/>
          </a:xfrm>
          <a:prstGeom prst="rect">
            <a:avLst/>
          </a:prstGeom>
        </p:spPr>
        <p:txBody>
          <a:bodyPr anchor="t" rtlCol="false" tIns="0" lIns="0" bIns="0" rIns="0">
            <a:spAutoFit/>
          </a:bodyPr>
          <a:lstStyle/>
          <a:p>
            <a:pPr algn="l">
              <a:lnSpc>
                <a:spcPts val="965"/>
              </a:lnSpc>
            </a:pPr>
            <a:r>
              <a:rPr lang="en-US" sz="500">
                <a:solidFill>
                  <a:srgbClr val="313130"/>
                </a:solidFill>
                <a:latin typeface="Swiss 721 Devanagari Light"/>
                <a:ea typeface="Swiss 721 Devanagari Light"/>
                <a:cs typeface="Swiss 721 Devanagari Light"/>
                <a:sym typeface="Swiss 721 Devanagari Light"/>
              </a:rPr>
              <a:t>o</a:t>
            </a:r>
          </a:p>
        </p:txBody>
      </p:sp>
      <p:sp>
        <p:nvSpPr>
          <p:cNvPr name="TextBox 21" id="21"/>
          <p:cNvSpPr txBox="true"/>
          <p:nvPr/>
        </p:nvSpPr>
        <p:spPr>
          <a:xfrm rot="0">
            <a:off x="3311261" y="6058091"/>
            <a:ext cx="36138" cy="120186"/>
          </a:xfrm>
          <a:prstGeom prst="rect">
            <a:avLst/>
          </a:prstGeom>
        </p:spPr>
        <p:txBody>
          <a:bodyPr anchor="t" rtlCol="false" tIns="0" lIns="0" bIns="0" rIns="0">
            <a:spAutoFit/>
          </a:bodyPr>
          <a:lstStyle/>
          <a:p>
            <a:pPr algn="l">
              <a:lnSpc>
                <a:spcPts val="965"/>
              </a:lnSpc>
            </a:pPr>
            <a:r>
              <a:rPr lang="en-US" sz="500">
                <a:solidFill>
                  <a:srgbClr val="313130"/>
                </a:solidFill>
                <a:latin typeface="Swiss 721 Devanagari Light"/>
                <a:ea typeface="Swiss 721 Devanagari Light"/>
                <a:cs typeface="Swiss 721 Devanagari Light"/>
                <a:sym typeface="Swiss 721 Devanagari Light"/>
              </a:rPr>
              <a:t>o</a:t>
            </a:r>
          </a:p>
        </p:txBody>
      </p:sp>
      <p:sp>
        <p:nvSpPr>
          <p:cNvPr name="TextBox 22" id="22"/>
          <p:cNvSpPr txBox="true"/>
          <p:nvPr/>
        </p:nvSpPr>
        <p:spPr>
          <a:xfrm rot="0">
            <a:off x="3568503" y="6058091"/>
            <a:ext cx="36138" cy="120186"/>
          </a:xfrm>
          <a:prstGeom prst="rect">
            <a:avLst/>
          </a:prstGeom>
        </p:spPr>
        <p:txBody>
          <a:bodyPr anchor="t" rtlCol="false" tIns="0" lIns="0" bIns="0" rIns="0">
            <a:spAutoFit/>
          </a:bodyPr>
          <a:lstStyle/>
          <a:p>
            <a:pPr algn="l">
              <a:lnSpc>
                <a:spcPts val="965"/>
              </a:lnSpc>
            </a:pPr>
            <a:r>
              <a:rPr lang="en-US" sz="500">
                <a:solidFill>
                  <a:srgbClr val="313130"/>
                </a:solidFill>
                <a:latin typeface="Swiss 721 Devanagari Light"/>
                <a:ea typeface="Swiss 721 Devanagari Light"/>
                <a:cs typeface="Swiss 721 Devanagari Light"/>
                <a:sym typeface="Swiss 721 Devanagari Light"/>
              </a:rPr>
              <a:t>o</a:t>
            </a:r>
          </a:p>
        </p:txBody>
      </p:sp>
      <p:sp>
        <p:nvSpPr>
          <p:cNvPr name="TextBox 23" id="23"/>
          <p:cNvSpPr txBox="true"/>
          <p:nvPr/>
        </p:nvSpPr>
        <p:spPr>
          <a:xfrm rot="0">
            <a:off x="646938" y="5177485"/>
            <a:ext cx="1839592" cy="394478"/>
          </a:xfrm>
          <a:prstGeom prst="rect">
            <a:avLst/>
          </a:prstGeom>
        </p:spPr>
        <p:txBody>
          <a:bodyPr anchor="t" rtlCol="false" tIns="0" lIns="0" bIns="0" rIns="0">
            <a:spAutoFit/>
          </a:bodyPr>
          <a:lstStyle/>
          <a:p>
            <a:pPr algn="l">
              <a:lnSpc>
                <a:spcPts val="1438"/>
              </a:lnSpc>
            </a:pPr>
            <a:r>
              <a:rPr lang="en-US" sz="1000">
                <a:solidFill>
                  <a:srgbClr val="151616"/>
                </a:solidFill>
                <a:latin typeface="Swiss 721 Devanagari Light"/>
                <a:ea typeface="Swiss 721 Devanagari Light"/>
                <a:cs typeface="Swiss 721 Devanagari Light"/>
                <a:sym typeface="Swiss 721 Devanagari Light"/>
              </a:rPr>
              <a:t>– Precise re-wrapping of balloon – Less balloon deflation time*</a:t>
            </a:r>
          </a:p>
        </p:txBody>
      </p:sp>
      <p:sp>
        <p:nvSpPr>
          <p:cNvPr name="TextBox 24" id="24"/>
          <p:cNvSpPr txBox="true"/>
          <p:nvPr/>
        </p:nvSpPr>
        <p:spPr>
          <a:xfrm rot="0">
            <a:off x="646938" y="3461156"/>
            <a:ext cx="4910728" cy="394468"/>
          </a:xfrm>
          <a:prstGeom prst="rect">
            <a:avLst/>
          </a:prstGeom>
        </p:spPr>
        <p:txBody>
          <a:bodyPr anchor="t" rtlCol="false" tIns="0" lIns="0" bIns="0" rIns="0">
            <a:spAutoFit/>
          </a:bodyPr>
          <a:lstStyle/>
          <a:p>
            <a:pPr algn="l">
              <a:lnSpc>
                <a:spcPts val="1438"/>
              </a:lnSpc>
            </a:pPr>
            <a:r>
              <a:rPr lang="en-US" sz="1000">
                <a:solidFill>
                  <a:srgbClr val="313130"/>
                </a:solidFill>
                <a:latin typeface="Swiss 721 Devanagari Light"/>
                <a:ea typeface="Swiss 721 Devanagari Light"/>
                <a:cs typeface="Swiss 721 Devanagari Light"/>
                <a:sym typeface="Swiss 721 Devanagari Light"/>
              </a:rPr>
              <a:t>– Endoscopic markers provide information on balloon location under direct visualization – Enhanced shaft coloring and markers provide improved visibility under low light</a:t>
            </a:r>
          </a:p>
        </p:txBody>
      </p:sp>
      <p:sp>
        <p:nvSpPr>
          <p:cNvPr name="TextBox 25" id="25"/>
          <p:cNvSpPr txBox="true"/>
          <p:nvPr/>
        </p:nvSpPr>
        <p:spPr>
          <a:xfrm rot="0">
            <a:off x="646938" y="4233739"/>
            <a:ext cx="5198040" cy="577148"/>
          </a:xfrm>
          <a:prstGeom prst="rect">
            <a:avLst/>
          </a:prstGeom>
        </p:spPr>
        <p:txBody>
          <a:bodyPr anchor="t" rtlCol="false" tIns="0" lIns="0" bIns="0" rIns="0">
            <a:spAutoFit/>
          </a:bodyPr>
          <a:lstStyle/>
          <a:p>
            <a:pPr algn="l">
              <a:lnSpc>
                <a:spcPts val="1438"/>
              </a:lnSpc>
            </a:pPr>
            <a:r>
              <a:rPr lang="en-US" sz="1000">
                <a:solidFill>
                  <a:srgbClr val="313130"/>
                </a:solidFill>
                <a:latin typeface="Swiss 721 Devanagari Light"/>
                <a:ea typeface="Swiss 721 Devanagari Light"/>
                <a:cs typeface="Swiss 721 Devanagari Light"/>
                <a:sym typeface="Swiss 721 Devanagari Light"/>
              </a:rPr>
              <a:t>– Optimized balloon tapers – Six-fold balloon design – New balloon insertion stylet enabling smooth balloon insertion into the sinus guide catheter</a:t>
            </a:r>
          </a:p>
        </p:txBody>
      </p:sp>
      <p:sp>
        <p:nvSpPr>
          <p:cNvPr name="TextBox 26" id="26"/>
          <p:cNvSpPr txBox="true"/>
          <p:nvPr/>
        </p:nvSpPr>
        <p:spPr>
          <a:xfrm rot="0">
            <a:off x="371208" y="6050404"/>
            <a:ext cx="6997417" cy="183232"/>
          </a:xfrm>
          <a:prstGeom prst="rect">
            <a:avLst/>
          </a:prstGeom>
        </p:spPr>
        <p:txBody>
          <a:bodyPr anchor="t" rtlCol="false" tIns="0" lIns="0" bIns="0" rIns="0">
            <a:spAutoFit/>
          </a:bodyPr>
          <a:lstStyle/>
          <a:p>
            <a:pPr algn="l">
              <a:lnSpc>
                <a:spcPts val="1199"/>
              </a:lnSpc>
            </a:pPr>
            <a:r>
              <a:rPr lang="en-US" sz="1000" spc="24">
                <a:solidFill>
                  <a:srgbClr val="313130"/>
                </a:solidFill>
                <a:latin typeface="Swiss 721 Devanagari Light"/>
                <a:ea typeface="Swiss 721 Devanagari Light"/>
                <a:cs typeface="Swiss 721 Devanagari Light"/>
                <a:sym typeface="Swiss 721 Devanagari Light"/>
              </a:rPr>
              <a:t>MesireTM guide catheter with a distal angle of 0, 30, 70, 90o, 110° are designed for targeted navigation of the MesireTM </a:t>
            </a:r>
          </a:p>
        </p:txBody>
      </p:sp>
      <p:sp>
        <p:nvSpPr>
          <p:cNvPr name="TextBox 27" id="27"/>
          <p:cNvSpPr txBox="true"/>
          <p:nvPr/>
        </p:nvSpPr>
        <p:spPr>
          <a:xfrm rot="0">
            <a:off x="371180" y="6202642"/>
            <a:ext cx="6978948" cy="335461"/>
          </a:xfrm>
          <a:prstGeom prst="rect">
            <a:avLst/>
          </a:prstGeom>
        </p:spPr>
        <p:txBody>
          <a:bodyPr anchor="t" rtlCol="false" tIns="0" lIns="0" bIns="0" rIns="0">
            <a:spAutoFit/>
          </a:bodyPr>
          <a:lstStyle/>
          <a:p>
            <a:pPr algn="l">
              <a:lnSpc>
                <a:spcPts val="1199"/>
              </a:lnSpc>
            </a:pPr>
            <a:r>
              <a:rPr lang="en-US" sz="1000">
                <a:solidFill>
                  <a:srgbClr val="313130"/>
                </a:solidFill>
                <a:latin typeface="Swiss 721 Devanagari Light"/>
                <a:ea typeface="Swiss 721 Devanagari Light"/>
                <a:cs typeface="Swiss 721 Devanagari Light"/>
                <a:sym typeface="Swiss 721 Devanagari Light"/>
              </a:rPr>
              <a:t>balloon catheter into respective ostium. MesireTM guide is having soft atraumatic tip which prevents the tissue trauma during the insertion.</a:t>
            </a:r>
          </a:p>
        </p:txBody>
      </p:sp>
      <p:sp>
        <p:nvSpPr>
          <p:cNvPr name="TextBox 28" id="28"/>
          <p:cNvSpPr txBox="true"/>
          <p:nvPr/>
        </p:nvSpPr>
        <p:spPr>
          <a:xfrm rot="0">
            <a:off x="371180" y="8509330"/>
            <a:ext cx="7002713" cy="487690"/>
          </a:xfrm>
          <a:prstGeom prst="rect">
            <a:avLst/>
          </a:prstGeom>
        </p:spPr>
        <p:txBody>
          <a:bodyPr anchor="t" rtlCol="false" tIns="0" lIns="0" bIns="0" rIns="0">
            <a:spAutoFit/>
          </a:bodyPr>
          <a:lstStyle/>
          <a:p>
            <a:pPr algn="just">
              <a:lnSpc>
                <a:spcPts val="1199"/>
              </a:lnSpc>
            </a:pPr>
            <a:r>
              <a:rPr lang="en-US" sz="1000">
                <a:solidFill>
                  <a:srgbClr val="313130"/>
                </a:solidFill>
                <a:latin typeface="Swiss 721 Devanagari Light"/>
                <a:ea typeface="Swiss 721 Devanagari Light"/>
                <a:cs typeface="Swiss 721 Devanagari Light"/>
                <a:sym typeface="Swiss 721 Devanagari Light"/>
              </a:rPr>
              <a:t>Latch is a handle device which help you to assemble all the components of the Balloon Sinus device in one . Also help you to hold entire Balloon device in single hand with other hand endoscope. Flange enables one-handed advancement of the Sinus Balloon Catheter.</a:t>
            </a:r>
          </a:p>
        </p:txBody>
      </p:sp>
      <p:sp>
        <p:nvSpPr>
          <p:cNvPr name="TextBox 29" id="29"/>
          <p:cNvSpPr txBox="true"/>
          <p:nvPr/>
        </p:nvSpPr>
        <p:spPr>
          <a:xfrm rot="0">
            <a:off x="370742" y="969188"/>
            <a:ext cx="7013086" cy="335451"/>
          </a:xfrm>
          <a:prstGeom prst="rect">
            <a:avLst/>
          </a:prstGeom>
        </p:spPr>
        <p:txBody>
          <a:bodyPr anchor="t" rtlCol="false" tIns="0" lIns="0" bIns="0" rIns="0">
            <a:spAutoFit/>
          </a:bodyPr>
          <a:lstStyle/>
          <a:p>
            <a:pPr algn="l">
              <a:lnSpc>
                <a:spcPts val="1199"/>
              </a:lnSpc>
            </a:pPr>
            <a:r>
              <a:rPr lang="en-US" sz="1000">
                <a:solidFill>
                  <a:srgbClr val="313130"/>
                </a:solidFill>
                <a:latin typeface="Swiss 721 Devanagari Light"/>
                <a:ea typeface="Swiss 721 Devanagari Light"/>
                <a:cs typeface="Swiss 721 Devanagari Light"/>
                <a:sym typeface="Swiss 721 Devanagari Light"/>
              </a:rPr>
              <a:t>MESIRETM Balloon catheter is non-compliant balloon catheters designed for precise control on diameter of balloon expansion. It enables accurate placement of balloon in the sinus ostia through visual indicators.</a:t>
            </a:r>
          </a:p>
        </p:txBody>
      </p:sp>
      <p:sp>
        <p:nvSpPr>
          <p:cNvPr name="TextBox 30" id="30"/>
          <p:cNvSpPr txBox="true"/>
          <p:nvPr/>
        </p:nvSpPr>
        <p:spPr>
          <a:xfrm rot="0">
            <a:off x="2020110" y="2560330"/>
            <a:ext cx="521856" cy="137789"/>
          </a:xfrm>
          <a:prstGeom prst="rect">
            <a:avLst/>
          </a:prstGeom>
        </p:spPr>
        <p:txBody>
          <a:bodyPr anchor="t" rtlCol="false" tIns="0" lIns="0" bIns="0" rIns="0">
            <a:spAutoFit/>
          </a:bodyPr>
          <a:lstStyle/>
          <a:p>
            <a:pPr algn="l">
              <a:lnSpc>
                <a:spcPts val="979"/>
              </a:lnSpc>
            </a:pPr>
            <a:r>
              <a:rPr lang="en-US" sz="699">
                <a:solidFill>
                  <a:srgbClr val="4E4E4D"/>
                </a:solidFill>
                <a:latin typeface="Swiss 721 Devanagari Light"/>
                <a:ea typeface="Swiss 721 Devanagari Light"/>
                <a:cs typeface="Swiss 721 Devanagari Light"/>
                <a:sym typeface="Swiss 721 Devanagari Light"/>
              </a:rPr>
              <a:t>Flexible Shaft</a:t>
            </a:r>
          </a:p>
        </p:txBody>
      </p:sp>
      <p:sp>
        <p:nvSpPr>
          <p:cNvPr name="TextBox 31" id="31"/>
          <p:cNvSpPr txBox="true"/>
          <p:nvPr/>
        </p:nvSpPr>
        <p:spPr>
          <a:xfrm rot="0">
            <a:off x="1958578" y="1590894"/>
            <a:ext cx="1003621" cy="332908"/>
          </a:xfrm>
          <a:prstGeom prst="rect">
            <a:avLst/>
          </a:prstGeom>
        </p:spPr>
        <p:txBody>
          <a:bodyPr anchor="t" rtlCol="false" tIns="0" lIns="0" bIns="0" rIns="0">
            <a:spAutoFit/>
          </a:bodyPr>
          <a:lstStyle/>
          <a:p>
            <a:pPr algn="l">
              <a:lnSpc>
                <a:spcPts val="979"/>
              </a:lnSpc>
            </a:pPr>
            <a:r>
              <a:rPr lang="en-US" sz="699">
                <a:solidFill>
                  <a:srgbClr val="4E4E4D"/>
                </a:solidFill>
                <a:latin typeface="Swiss 721 Devanagari Light"/>
                <a:ea typeface="Swiss 721 Devanagari Light"/>
                <a:cs typeface="Swiss 721 Devanagari Light"/>
                <a:sym typeface="Swiss 721 Devanagari Light"/>
              </a:rPr>
              <a:t>Non-Compliant Balloon Distal Endoscopic Marker</a:t>
            </a:r>
          </a:p>
        </p:txBody>
      </p:sp>
      <p:sp>
        <p:nvSpPr>
          <p:cNvPr name="TextBox 32" id="32"/>
          <p:cNvSpPr txBox="true"/>
          <p:nvPr/>
        </p:nvSpPr>
        <p:spPr>
          <a:xfrm rot="0">
            <a:off x="2475824" y="7713012"/>
            <a:ext cx="538277" cy="137789"/>
          </a:xfrm>
          <a:prstGeom prst="rect">
            <a:avLst/>
          </a:prstGeom>
        </p:spPr>
        <p:txBody>
          <a:bodyPr anchor="t" rtlCol="false" tIns="0" lIns="0" bIns="0" rIns="0">
            <a:spAutoFit/>
          </a:bodyPr>
          <a:lstStyle/>
          <a:p>
            <a:pPr algn="l">
              <a:lnSpc>
                <a:spcPts val="979"/>
              </a:lnSpc>
            </a:pPr>
            <a:r>
              <a:rPr lang="en-US" sz="699">
                <a:solidFill>
                  <a:srgbClr val="4E4E4D"/>
                </a:solidFill>
                <a:latin typeface="Swiss 721 Devanagari Light"/>
                <a:ea typeface="Swiss 721 Devanagari Light"/>
                <a:cs typeface="Swiss 721 Devanagari Light"/>
                <a:sym typeface="Swiss 721 Devanagari Light"/>
              </a:rPr>
              <a:t>Atrumatic Tip </a:t>
            </a:r>
          </a:p>
        </p:txBody>
      </p:sp>
      <p:sp>
        <p:nvSpPr>
          <p:cNvPr name="TextBox 33" id="33"/>
          <p:cNvSpPr txBox="true"/>
          <p:nvPr/>
        </p:nvSpPr>
        <p:spPr>
          <a:xfrm rot="0">
            <a:off x="2475824" y="6867677"/>
            <a:ext cx="933479" cy="137789"/>
          </a:xfrm>
          <a:prstGeom prst="rect">
            <a:avLst/>
          </a:prstGeom>
        </p:spPr>
        <p:txBody>
          <a:bodyPr anchor="t" rtlCol="false" tIns="0" lIns="0" bIns="0" rIns="0">
            <a:spAutoFit/>
          </a:bodyPr>
          <a:lstStyle/>
          <a:p>
            <a:pPr algn="l">
              <a:lnSpc>
                <a:spcPts val="979"/>
              </a:lnSpc>
            </a:pPr>
            <a:r>
              <a:rPr lang="en-US" sz="699">
                <a:solidFill>
                  <a:srgbClr val="4E4E4D"/>
                </a:solidFill>
                <a:latin typeface="Swiss 721 Devanagari Light"/>
                <a:ea typeface="Swiss 721 Devanagari Light"/>
                <a:cs typeface="Swiss 721 Devanagari Light"/>
                <a:sym typeface="Swiss 721 Devanagari Light"/>
              </a:rPr>
              <a:t>Transparent Curved Tip </a:t>
            </a:r>
          </a:p>
        </p:txBody>
      </p:sp>
      <p:sp>
        <p:nvSpPr>
          <p:cNvPr name="TextBox 34" id="34"/>
          <p:cNvSpPr txBox="true"/>
          <p:nvPr/>
        </p:nvSpPr>
        <p:spPr>
          <a:xfrm rot="0">
            <a:off x="3123638" y="7089953"/>
            <a:ext cx="569909" cy="137789"/>
          </a:xfrm>
          <a:prstGeom prst="rect">
            <a:avLst/>
          </a:prstGeom>
        </p:spPr>
        <p:txBody>
          <a:bodyPr anchor="t" rtlCol="false" tIns="0" lIns="0" bIns="0" rIns="0">
            <a:spAutoFit/>
          </a:bodyPr>
          <a:lstStyle/>
          <a:p>
            <a:pPr algn="l">
              <a:lnSpc>
                <a:spcPts val="979"/>
              </a:lnSpc>
            </a:pPr>
            <a:r>
              <a:rPr lang="en-US" sz="699">
                <a:solidFill>
                  <a:srgbClr val="4E4E4D"/>
                </a:solidFill>
                <a:latin typeface="Swiss 721 Devanagari Light"/>
                <a:ea typeface="Swiss 721 Devanagari Light"/>
                <a:cs typeface="Swiss 721 Devanagari Light"/>
                <a:sym typeface="Swiss 721 Devanagari Light"/>
              </a:rPr>
              <a:t>Stainless Steel</a:t>
            </a:r>
          </a:p>
        </p:txBody>
      </p:sp>
      <p:sp>
        <p:nvSpPr>
          <p:cNvPr name="TextBox 35" id="35"/>
          <p:cNvSpPr txBox="true"/>
          <p:nvPr/>
        </p:nvSpPr>
        <p:spPr>
          <a:xfrm rot="0">
            <a:off x="3166767" y="9583179"/>
            <a:ext cx="761695" cy="137789"/>
          </a:xfrm>
          <a:prstGeom prst="rect">
            <a:avLst/>
          </a:prstGeom>
        </p:spPr>
        <p:txBody>
          <a:bodyPr anchor="t" rtlCol="false" tIns="0" lIns="0" bIns="0" rIns="0">
            <a:spAutoFit/>
          </a:bodyPr>
          <a:lstStyle/>
          <a:p>
            <a:pPr algn="l">
              <a:lnSpc>
                <a:spcPts val="979"/>
              </a:lnSpc>
            </a:pPr>
            <a:r>
              <a:rPr lang="en-US" sz="699">
                <a:solidFill>
                  <a:srgbClr val="4E4E4D"/>
                </a:solidFill>
                <a:latin typeface="Swiss 721 Devanagari Light"/>
                <a:ea typeface="Swiss 721 Devanagari Light"/>
                <a:cs typeface="Swiss 721 Devanagari Light"/>
                <a:sym typeface="Swiss 721 Devanagari Light"/>
              </a:rPr>
              <a:t>Silicon Outer Layer </a:t>
            </a:r>
          </a:p>
        </p:txBody>
      </p:sp>
      <p:sp>
        <p:nvSpPr>
          <p:cNvPr name="TextBox 36" id="36"/>
          <p:cNvSpPr txBox="true"/>
          <p:nvPr/>
        </p:nvSpPr>
        <p:spPr>
          <a:xfrm rot="0">
            <a:off x="3997709" y="1948291"/>
            <a:ext cx="426644" cy="137789"/>
          </a:xfrm>
          <a:prstGeom prst="rect">
            <a:avLst/>
          </a:prstGeom>
        </p:spPr>
        <p:txBody>
          <a:bodyPr anchor="t" rtlCol="false" tIns="0" lIns="0" bIns="0" rIns="0">
            <a:spAutoFit/>
          </a:bodyPr>
          <a:lstStyle/>
          <a:p>
            <a:pPr algn="l">
              <a:lnSpc>
                <a:spcPts val="979"/>
              </a:lnSpc>
            </a:pPr>
            <a:r>
              <a:rPr lang="en-US" sz="699">
                <a:solidFill>
                  <a:srgbClr val="4E4E4D"/>
                </a:solidFill>
                <a:latin typeface="Swiss 721 Devanagari Light"/>
                <a:ea typeface="Swiss 721 Devanagari Light"/>
                <a:cs typeface="Swiss 721 Devanagari Light"/>
                <a:sym typeface="Swiss 721 Devanagari Light"/>
              </a:rPr>
              <a:t>Rigid Shaft</a:t>
            </a:r>
          </a:p>
        </p:txBody>
      </p:sp>
      <p:sp>
        <p:nvSpPr>
          <p:cNvPr name="TextBox 37" id="37"/>
          <p:cNvSpPr txBox="true"/>
          <p:nvPr/>
        </p:nvSpPr>
        <p:spPr>
          <a:xfrm rot="0">
            <a:off x="3764975" y="2753306"/>
            <a:ext cx="854916" cy="137789"/>
          </a:xfrm>
          <a:prstGeom prst="rect">
            <a:avLst/>
          </a:prstGeom>
        </p:spPr>
        <p:txBody>
          <a:bodyPr anchor="t" rtlCol="false" tIns="0" lIns="0" bIns="0" rIns="0">
            <a:spAutoFit/>
          </a:bodyPr>
          <a:lstStyle/>
          <a:p>
            <a:pPr algn="l">
              <a:lnSpc>
                <a:spcPts val="979"/>
              </a:lnSpc>
            </a:pPr>
            <a:r>
              <a:rPr lang="en-US" sz="699">
                <a:solidFill>
                  <a:srgbClr val="4E4E4D"/>
                </a:solidFill>
                <a:latin typeface="Swiss 721 Devanagari Light"/>
                <a:ea typeface="Swiss 721 Devanagari Light"/>
                <a:cs typeface="Swiss 721 Devanagari Light"/>
                <a:sym typeface="Swiss 721 Devanagari Light"/>
              </a:rPr>
              <a:t>Proximal Shaft Marker</a:t>
            </a:r>
          </a:p>
        </p:txBody>
      </p:sp>
      <p:sp>
        <p:nvSpPr>
          <p:cNvPr name="TextBox 38" id="38"/>
          <p:cNvSpPr txBox="true"/>
          <p:nvPr/>
        </p:nvSpPr>
        <p:spPr>
          <a:xfrm rot="0">
            <a:off x="5175037" y="2890447"/>
            <a:ext cx="484222" cy="137789"/>
          </a:xfrm>
          <a:prstGeom prst="rect">
            <a:avLst/>
          </a:prstGeom>
        </p:spPr>
        <p:txBody>
          <a:bodyPr anchor="t" rtlCol="false" tIns="0" lIns="0" bIns="0" rIns="0">
            <a:spAutoFit/>
          </a:bodyPr>
          <a:lstStyle/>
          <a:p>
            <a:pPr algn="l">
              <a:lnSpc>
                <a:spcPts val="979"/>
              </a:lnSpc>
            </a:pPr>
            <a:r>
              <a:rPr lang="en-US" sz="699">
                <a:solidFill>
                  <a:srgbClr val="4E4E4D"/>
                </a:solidFill>
                <a:latin typeface="Swiss 721 Devanagari Light"/>
                <a:ea typeface="Swiss 721 Devanagari Light"/>
                <a:cs typeface="Swiss 721 Devanagari Light"/>
                <a:sym typeface="Swiss 721 Devanagari Light"/>
              </a:rPr>
              <a:t>Inflation port</a:t>
            </a:r>
          </a:p>
        </p:txBody>
      </p:sp>
      <p:sp>
        <p:nvSpPr>
          <p:cNvPr name="TextBox 39" id="39"/>
          <p:cNvSpPr txBox="true"/>
          <p:nvPr/>
        </p:nvSpPr>
        <p:spPr>
          <a:xfrm rot="0">
            <a:off x="5181762" y="7713012"/>
            <a:ext cx="512997" cy="137789"/>
          </a:xfrm>
          <a:prstGeom prst="rect">
            <a:avLst/>
          </a:prstGeom>
        </p:spPr>
        <p:txBody>
          <a:bodyPr anchor="t" rtlCol="false" tIns="0" lIns="0" bIns="0" rIns="0">
            <a:spAutoFit/>
          </a:bodyPr>
          <a:lstStyle/>
          <a:p>
            <a:pPr algn="l">
              <a:lnSpc>
                <a:spcPts val="979"/>
              </a:lnSpc>
            </a:pPr>
            <a:r>
              <a:rPr lang="en-US" sz="699">
                <a:solidFill>
                  <a:srgbClr val="4E4E4D"/>
                </a:solidFill>
                <a:latin typeface="Swiss 721 Devanagari Light"/>
                <a:ea typeface="Swiss 721 Devanagari Light"/>
                <a:cs typeface="Swiss 721 Devanagari Light"/>
                <a:sym typeface="Swiss 721 Devanagari Light"/>
              </a:rPr>
              <a:t>Insertion Port</a:t>
            </a:r>
          </a:p>
        </p:txBody>
      </p:sp>
      <p:sp>
        <p:nvSpPr>
          <p:cNvPr name="TextBox 40" id="40"/>
          <p:cNvSpPr txBox="true"/>
          <p:nvPr/>
        </p:nvSpPr>
        <p:spPr>
          <a:xfrm rot="0">
            <a:off x="5163112" y="6865982"/>
            <a:ext cx="602732" cy="137789"/>
          </a:xfrm>
          <a:prstGeom prst="rect">
            <a:avLst/>
          </a:prstGeom>
        </p:spPr>
        <p:txBody>
          <a:bodyPr anchor="t" rtlCol="false" tIns="0" lIns="0" bIns="0" rIns="0">
            <a:spAutoFit/>
          </a:bodyPr>
          <a:lstStyle/>
          <a:p>
            <a:pPr algn="l">
              <a:lnSpc>
                <a:spcPts val="979"/>
              </a:lnSpc>
            </a:pPr>
            <a:r>
              <a:rPr lang="en-US" sz="699">
                <a:solidFill>
                  <a:srgbClr val="4E4E4D"/>
                </a:solidFill>
                <a:latin typeface="Swiss 721 Devanagari Light"/>
                <a:ea typeface="Swiss 721 Devanagari Light"/>
                <a:cs typeface="Swiss 721 Devanagari Light"/>
                <a:sym typeface="Swiss 721 Devanagari Light"/>
              </a:rPr>
              <a:t>Indicative Band</a:t>
            </a:r>
          </a:p>
        </p:txBody>
      </p:sp>
      <p:sp>
        <p:nvSpPr>
          <p:cNvPr name="TextBox 41" id="41"/>
          <p:cNvSpPr txBox="true"/>
          <p:nvPr/>
        </p:nvSpPr>
        <p:spPr>
          <a:xfrm rot="0">
            <a:off x="6248248" y="2652941"/>
            <a:ext cx="553136" cy="137789"/>
          </a:xfrm>
          <a:prstGeom prst="rect">
            <a:avLst/>
          </a:prstGeom>
        </p:spPr>
        <p:txBody>
          <a:bodyPr anchor="t" rtlCol="false" tIns="0" lIns="0" bIns="0" rIns="0">
            <a:spAutoFit/>
          </a:bodyPr>
          <a:lstStyle/>
          <a:p>
            <a:pPr algn="l">
              <a:lnSpc>
                <a:spcPts val="979"/>
              </a:lnSpc>
            </a:pPr>
            <a:r>
              <a:rPr lang="en-US" sz="699">
                <a:solidFill>
                  <a:srgbClr val="4E4E4D"/>
                </a:solidFill>
                <a:latin typeface="Swiss 721 Devanagari Light"/>
                <a:ea typeface="Swiss 721 Devanagari Light"/>
                <a:cs typeface="Swiss 721 Devanagari Light"/>
                <a:sym typeface="Swiss 721 Devanagari Light"/>
              </a:rPr>
              <a:t>Lightwire port</a:t>
            </a:r>
          </a:p>
        </p:txBody>
      </p:sp>
      <p:sp>
        <p:nvSpPr>
          <p:cNvPr name="TextBox 42" id="42"/>
          <p:cNvSpPr txBox="true"/>
          <p:nvPr/>
        </p:nvSpPr>
        <p:spPr>
          <a:xfrm rot="0">
            <a:off x="6465446" y="9767668"/>
            <a:ext cx="433445" cy="137789"/>
          </a:xfrm>
          <a:prstGeom prst="rect">
            <a:avLst/>
          </a:prstGeom>
        </p:spPr>
        <p:txBody>
          <a:bodyPr anchor="t" rtlCol="false" tIns="0" lIns="0" bIns="0" rIns="0">
            <a:spAutoFit/>
          </a:bodyPr>
          <a:lstStyle/>
          <a:p>
            <a:pPr algn="l">
              <a:lnSpc>
                <a:spcPts val="979"/>
              </a:lnSpc>
            </a:pPr>
            <a:r>
              <a:rPr lang="en-US" sz="699">
                <a:solidFill>
                  <a:srgbClr val="4E4E4D"/>
                </a:solidFill>
                <a:latin typeface="Swiss 721 Devanagari Light"/>
                <a:ea typeface="Swiss 721 Devanagari Light"/>
                <a:cs typeface="Swiss 721 Devanagari Light"/>
                <a:sym typeface="Swiss 721 Devanagari Light"/>
              </a:rPr>
              <a:t>Connector </a:t>
            </a:r>
          </a:p>
        </p:txBody>
      </p:sp>
      <p:sp>
        <p:nvSpPr>
          <p:cNvPr name="TextBox 43" id="43"/>
          <p:cNvSpPr txBox="true"/>
          <p:nvPr/>
        </p:nvSpPr>
        <p:spPr>
          <a:xfrm rot="0">
            <a:off x="4583687" y="7402449"/>
            <a:ext cx="292713" cy="119463"/>
          </a:xfrm>
          <a:prstGeom prst="rect">
            <a:avLst/>
          </a:prstGeom>
        </p:spPr>
        <p:txBody>
          <a:bodyPr anchor="t" rtlCol="false" tIns="0" lIns="0" bIns="0" rIns="0">
            <a:spAutoFit/>
          </a:bodyPr>
          <a:lstStyle/>
          <a:p>
            <a:pPr algn="l">
              <a:lnSpc>
                <a:spcPts val="839"/>
              </a:lnSpc>
            </a:pPr>
            <a:r>
              <a:rPr lang="en-US" sz="600">
                <a:solidFill>
                  <a:srgbClr val="FFFFFF"/>
                </a:solidFill>
                <a:latin typeface="Swiss 721 Devanagari Light"/>
                <a:ea typeface="Swiss 721 Devanagari Light"/>
                <a:cs typeface="Swiss 721 Devanagari Light"/>
                <a:sym typeface="Swiss 721 Devanagari Light"/>
              </a:rPr>
              <a:t>MSG110</a:t>
            </a:r>
          </a:p>
        </p:txBody>
      </p:sp>
      <p:sp>
        <p:nvSpPr>
          <p:cNvPr name="TextBox 44" id="44"/>
          <p:cNvSpPr txBox="true"/>
          <p:nvPr/>
        </p:nvSpPr>
        <p:spPr>
          <a:xfrm rot="0">
            <a:off x="352254" y="163192"/>
            <a:ext cx="1811693" cy="331270"/>
          </a:xfrm>
          <a:prstGeom prst="rect">
            <a:avLst/>
          </a:prstGeom>
        </p:spPr>
        <p:txBody>
          <a:bodyPr anchor="t" rtlCol="false" tIns="0" lIns="0" bIns="0" rIns="0">
            <a:spAutoFit/>
          </a:bodyPr>
          <a:lstStyle/>
          <a:p>
            <a:pPr algn="l">
              <a:lnSpc>
                <a:spcPts val="2240"/>
              </a:lnSpc>
            </a:pPr>
            <a:r>
              <a:rPr lang="en-US" b="true" sz="1600">
                <a:solidFill>
                  <a:srgbClr val="5E97CE"/>
                </a:solidFill>
                <a:latin typeface="Swiss 721 Devanagari Bold"/>
                <a:ea typeface="Swiss 721 Devanagari Bold"/>
                <a:cs typeface="Swiss 721 Devanagari Bold"/>
                <a:sym typeface="Swiss 721 Devanagari Bold"/>
              </a:rPr>
              <a:t>Product Overview:</a:t>
            </a:r>
          </a:p>
        </p:txBody>
      </p:sp>
      <p:sp>
        <p:nvSpPr>
          <p:cNvPr name="TextBox 45" id="45"/>
          <p:cNvSpPr txBox="true"/>
          <p:nvPr/>
        </p:nvSpPr>
        <p:spPr>
          <a:xfrm rot="0">
            <a:off x="521732" y="3284420"/>
            <a:ext cx="2150335" cy="241887"/>
          </a:xfrm>
          <a:prstGeom prst="rect">
            <a:avLst/>
          </a:prstGeom>
        </p:spPr>
        <p:txBody>
          <a:bodyPr anchor="t" rtlCol="false" tIns="0" lIns="0" bIns="0" rIns="0">
            <a:spAutoFit/>
          </a:bodyPr>
          <a:lstStyle/>
          <a:p>
            <a:pPr algn="l">
              <a:lnSpc>
                <a:spcPts val="1959"/>
              </a:lnSpc>
            </a:pPr>
            <a:r>
              <a:rPr lang="en-US" sz="1399" spc="-15">
                <a:solidFill>
                  <a:srgbClr val="313130"/>
                </a:solidFill>
                <a:latin typeface="IBM Plex Sans"/>
                <a:ea typeface="IBM Plex Sans"/>
                <a:cs typeface="IBM Plex Sans"/>
                <a:sym typeface="IBM Plex Sans"/>
              </a:rPr>
              <a:t>Precise balloon placement</a:t>
            </a:r>
          </a:p>
        </p:txBody>
      </p:sp>
      <p:sp>
        <p:nvSpPr>
          <p:cNvPr name="TextBox 46" id="46"/>
          <p:cNvSpPr txBox="true"/>
          <p:nvPr/>
        </p:nvSpPr>
        <p:spPr>
          <a:xfrm rot="0">
            <a:off x="528180" y="4986890"/>
            <a:ext cx="2537717" cy="241887"/>
          </a:xfrm>
          <a:prstGeom prst="rect">
            <a:avLst/>
          </a:prstGeom>
        </p:spPr>
        <p:txBody>
          <a:bodyPr anchor="t" rtlCol="false" tIns="0" lIns="0" bIns="0" rIns="0">
            <a:spAutoFit/>
          </a:bodyPr>
          <a:lstStyle/>
          <a:p>
            <a:pPr algn="l">
              <a:lnSpc>
                <a:spcPts val="1959"/>
              </a:lnSpc>
            </a:pPr>
            <a:r>
              <a:rPr lang="en-US" sz="1399" spc="-15">
                <a:solidFill>
                  <a:srgbClr val="313130"/>
                </a:solidFill>
                <a:latin typeface="IBM Plex Sans"/>
                <a:ea typeface="IBM Plex Sans"/>
                <a:cs typeface="IBM Plex Sans"/>
                <a:sym typeface="IBM Plex Sans"/>
              </a:rPr>
              <a:t> Increased procedural efficiency</a:t>
            </a:r>
          </a:p>
        </p:txBody>
      </p:sp>
      <p:sp>
        <p:nvSpPr>
          <p:cNvPr name="TextBox 47" id="47"/>
          <p:cNvSpPr txBox="true"/>
          <p:nvPr/>
        </p:nvSpPr>
        <p:spPr>
          <a:xfrm rot="0">
            <a:off x="528533" y="4058583"/>
            <a:ext cx="2698575" cy="241887"/>
          </a:xfrm>
          <a:prstGeom prst="rect">
            <a:avLst/>
          </a:prstGeom>
        </p:spPr>
        <p:txBody>
          <a:bodyPr anchor="t" rtlCol="false" tIns="0" lIns="0" bIns="0" rIns="0">
            <a:spAutoFit/>
          </a:bodyPr>
          <a:lstStyle/>
          <a:p>
            <a:pPr algn="l">
              <a:lnSpc>
                <a:spcPts val="1959"/>
              </a:lnSpc>
            </a:pPr>
            <a:r>
              <a:rPr lang="en-US" sz="1399" spc="-15">
                <a:solidFill>
                  <a:srgbClr val="313130"/>
                </a:solidFill>
                <a:latin typeface="IBM Plex Sans"/>
                <a:ea typeface="IBM Plex Sans"/>
                <a:cs typeface="IBM Plex Sans"/>
                <a:sym typeface="IBM Plex Sans"/>
              </a:rPr>
              <a:t>Enhanced tracking and retraction</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63503" y="-63503"/>
            <a:ext cx="7686027" cy="10819000"/>
          </a:xfrm>
          <a:custGeom>
            <a:avLst/>
            <a:gdLst/>
            <a:ahLst/>
            <a:cxnLst/>
            <a:rect r="r" b="b" t="t" l="l"/>
            <a:pathLst>
              <a:path h="10819000" w="7686027">
                <a:moveTo>
                  <a:pt x="0" y="0"/>
                </a:moveTo>
                <a:lnTo>
                  <a:pt x="7686027" y="0"/>
                </a:lnTo>
                <a:lnTo>
                  <a:pt x="7686027" y="10819000"/>
                </a:lnTo>
                <a:lnTo>
                  <a:pt x="0" y="108190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438636" y="994972"/>
            <a:ext cx="2317594" cy="1325680"/>
            <a:chOff x="0" y="0"/>
            <a:chExt cx="3090126" cy="1767573"/>
          </a:xfrm>
        </p:grpSpPr>
        <p:sp>
          <p:nvSpPr>
            <p:cNvPr name="Freeform 4" id="4"/>
            <p:cNvSpPr/>
            <p:nvPr/>
          </p:nvSpPr>
          <p:spPr>
            <a:xfrm flipH="false" flipV="false" rot="0">
              <a:off x="0" y="0"/>
              <a:ext cx="3090164" cy="1767586"/>
            </a:xfrm>
            <a:custGeom>
              <a:avLst/>
              <a:gdLst/>
              <a:ahLst/>
              <a:cxnLst/>
              <a:rect r="r" b="b" t="t" l="l"/>
              <a:pathLst>
                <a:path h="1767586" w="3090164">
                  <a:moveTo>
                    <a:pt x="0" y="0"/>
                  </a:moveTo>
                  <a:lnTo>
                    <a:pt x="3090164" y="0"/>
                  </a:lnTo>
                  <a:lnTo>
                    <a:pt x="3090164" y="1767586"/>
                  </a:lnTo>
                  <a:lnTo>
                    <a:pt x="0" y="1767586"/>
                  </a:lnTo>
                  <a:lnTo>
                    <a:pt x="0" y="0"/>
                  </a:lnTo>
                  <a:close/>
                </a:path>
              </a:pathLst>
            </a:custGeom>
            <a:blipFill>
              <a:blip r:embed="rId4"/>
              <a:stretch>
                <a:fillRect l="-133" t="-171" r="0" b="-245"/>
              </a:stretch>
            </a:blipFill>
          </p:spPr>
        </p:sp>
      </p:grpSp>
      <p:grpSp>
        <p:nvGrpSpPr>
          <p:cNvPr name="Group 5" id="5"/>
          <p:cNvGrpSpPr/>
          <p:nvPr/>
        </p:nvGrpSpPr>
        <p:grpSpPr>
          <a:xfrm rot="0">
            <a:off x="1777889" y="2739190"/>
            <a:ext cx="3999100" cy="2474786"/>
            <a:chOff x="0" y="0"/>
            <a:chExt cx="5332133" cy="3299714"/>
          </a:xfrm>
        </p:grpSpPr>
        <p:sp>
          <p:nvSpPr>
            <p:cNvPr name="Freeform 6" id="6"/>
            <p:cNvSpPr/>
            <p:nvPr/>
          </p:nvSpPr>
          <p:spPr>
            <a:xfrm flipH="false" flipV="false" rot="0">
              <a:off x="0" y="0"/>
              <a:ext cx="5332095" cy="3299714"/>
            </a:xfrm>
            <a:custGeom>
              <a:avLst/>
              <a:gdLst/>
              <a:ahLst/>
              <a:cxnLst/>
              <a:rect r="r" b="b" t="t" l="l"/>
              <a:pathLst>
                <a:path h="3299714" w="5332095">
                  <a:moveTo>
                    <a:pt x="0" y="0"/>
                  </a:moveTo>
                  <a:lnTo>
                    <a:pt x="5332095" y="0"/>
                  </a:lnTo>
                  <a:lnTo>
                    <a:pt x="5332095" y="3299714"/>
                  </a:lnTo>
                  <a:lnTo>
                    <a:pt x="0" y="3299714"/>
                  </a:lnTo>
                  <a:lnTo>
                    <a:pt x="0" y="0"/>
                  </a:lnTo>
                  <a:close/>
                </a:path>
              </a:pathLst>
            </a:custGeom>
            <a:blipFill>
              <a:blip r:embed="rId5"/>
              <a:stretch>
                <a:fillRect l="0" t="0" r="0" b="0"/>
              </a:stretch>
            </a:blipFill>
          </p:spPr>
        </p:sp>
      </p:grpSp>
      <p:sp>
        <p:nvSpPr>
          <p:cNvPr name="Freeform 7" id="7"/>
          <p:cNvSpPr/>
          <p:nvPr/>
        </p:nvSpPr>
        <p:spPr>
          <a:xfrm flipH="false" flipV="false" rot="0">
            <a:off x="1549251" y="7504262"/>
            <a:ext cx="4631503" cy="1856146"/>
          </a:xfrm>
          <a:custGeom>
            <a:avLst/>
            <a:gdLst/>
            <a:ahLst/>
            <a:cxnLst/>
            <a:rect r="r" b="b" t="t" l="l"/>
            <a:pathLst>
              <a:path h="1856146" w="4631503">
                <a:moveTo>
                  <a:pt x="0" y="0"/>
                </a:moveTo>
                <a:lnTo>
                  <a:pt x="4631502" y="0"/>
                </a:lnTo>
                <a:lnTo>
                  <a:pt x="4631502" y="1856146"/>
                </a:lnTo>
                <a:lnTo>
                  <a:pt x="0" y="1856146"/>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8" id="8"/>
          <p:cNvSpPr/>
          <p:nvPr/>
        </p:nvSpPr>
        <p:spPr>
          <a:xfrm flipH="false" flipV="false" rot="0">
            <a:off x="1549251" y="6065549"/>
            <a:ext cx="4631503" cy="1278988"/>
          </a:xfrm>
          <a:custGeom>
            <a:avLst/>
            <a:gdLst/>
            <a:ahLst/>
            <a:cxnLst/>
            <a:rect r="r" b="b" t="t" l="l"/>
            <a:pathLst>
              <a:path h="1278988" w="4631503">
                <a:moveTo>
                  <a:pt x="0" y="0"/>
                </a:moveTo>
                <a:lnTo>
                  <a:pt x="4631502" y="0"/>
                </a:lnTo>
                <a:lnTo>
                  <a:pt x="4631502" y="1278988"/>
                </a:lnTo>
                <a:lnTo>
                  <a:pt x="0" y="1278988"/>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9" id="9"/>
          <p:cNvSpPr/>
          <p:nvPr/>
        </p:nvSpPr>
        <p:spPr>
          <a:xfrm flipH="false" flipV="false" rot="0">
            <a:off x="1549251" y="9584922"/>
            <a:ext cx="4631503" cy="818483"/>
          </a:xfrm>
          <a:custGeom>
            <a:avLst/>
            <a:gdLst/>
            <a:ahLst/>
            <a:cxnLst/>
            <a:rect r="r" b="b" t="t" l="l"/>
            <a:pathLst>
              <a:path h="818483" w="4631503">
                <a:moveTo>
                  <a:pt x="0" y="0"/>
                </a:moveTo>
                <a:lnTo>
                  <a:pt x="4631502" y="0"/>
                </a:lnTo>
                <a:lnTo>
                  <a:pt x="4631502" y="818483"/>
                </a:lnTo>
                <a:lnTo>
                  <a:pt x="0" y="818483"/>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TextBox 10" id="10"/>
          <p:cNvSpPr txBox="true"/>
          <p:nvPr/>
        </p:nvSpPr>
        <p:spPr>
          <a:xfrm rot="0">
            <a:off x="355235" y="530152"/>
            <a:ext cx="7028545" cy="335451"/>
          </a:xfrm>
          <a:prstGeom prst="rect">
            <a:avLst/>
          </a:prstGeom>
        </p:spPr>
        <p:txBody>
          <a:bodyPr anchor="t" rtlCol="false" tIns="0" lIns="0" bIns="0" rIns="0">
            <a:spAutoFit/>
          </a:bodyPr>
          <a:lstStyle/>
          <a:p>
            <a:pPr algn="l">
              <a:lnSpc>
                <a:spcPts val="1199"/>
              </a:lnSpc>
            </a:pPr>
            <a:r>
              <a:rPr lang="en-US" sz="1000" spc="3">
                <a:solidFill>
                  <a:srgbClr val="313130"/>
                </a:solidFill>
                <a:latin typeface="Swiss 721 Devanagari Light"/>
                <a:ea typeface="Swiss 721 Devanagari Light"/>
                <a:cs typeface="Swiss 721 Devanagari Light"/>
                <a:sym typeface="Swiss 721 Devanagari Light"/>
              </a:rPr>
              <a:t>Light compatible light wire provides sinus cavity navigation and as an insertion aid for the balloon catheter. Illumination of the light wire allows precise placement.</a:t>
            </a:r>
          </a:p>
        </p:txBody>
      </p:sp>
      <p:sp>
        <p:nvSpPr>
          <p:cNvPr name="TextBox 11" id="11"/>
          <p:cNvSpPr txBox="true"/>
          <p:nvPr/>
        </p:nvSpPr>
        <p:spPr>
          <a:xfrm rot="0">
            <a:off x="2836593" y="1225563"/>
            <a:ext cx="4488428" cy="183232"/>
          </a:xfrm>
          <a:prstGeom prst="rect">
            <a:avLst/>
          </a:prstGeom>
        </p:spPr>
        <p:txBody>
          <a:bodyPr anchor="t" rtlCol="false" tIns="0" lIns="0" bIns="0" rIns="0">
            <a:spAutoFit/>
          </a:bodyPr>
          <a:lstStyle/>
          <a:p>
            <a:pPr algn="l">
              <a:lnSpc>
                <a:spcPts val="1199"/>
              </a:lnSpc>
            </a:pPr>
            <a:r>
              <a:rPr lang="en-US" sz="1000">
                <a:solidFill>
                  <a:srgbClr val="313130"/>
                </a:solidFill>
                <a:latin typeface="Swiss 721 Devanagari Light"/>
                <a:ea typeface="Swiss 721 Devanagari Light"/>
                <a:cs typeface="Swiss 721 Devanagari Light"/>
                <a:sym typeface="Swiss 721 Devanagari Light"/>
              </a:rPr>
              <a:t>– Enables transcutaneous localization of device tip for confident confirmation of </a:t>
            </a:r>
          </a:p>
        </p:txBody>
      </p:sp>
      <p:sp>
        <p:nvSpPr>
          <p:cNvPr name="TextBox 12" id="12"/>
          <p:cNvSpPr txBox="true"/>
          <p:nvPr/>
        </p:nvSpPr>
        <p:spPr>
          <a:xfrm rot="0">
            <a:off x="2971724" y="1377791"/>
            <a:ext cx="727234" cy="183232"/>
          </a:xfrm>
          <a:prstGeom prst="rect">
            <a:avLst/>
          </a:prstGeom>
        </p:spPr>
        <p:txBody>
          <a:bodyPr anchor="t" rtlCol="false" tIns="0" lIns="0" bIns="0" rIns="0">
            <a:spAutoFit/>
          </a:bodyPr>
          <a:lstStyle/>
          <a:p>
            <a:pPr algn="l">
              <a:lnSpc>
                <a:spcPts val="1199"/>
              </a:lnSpc>
            </a:pPr>
            <a:r>
              <a:rPr lang="en-US" sz="1000">
                <a:solidFill>
                  <a:srgbClr val="313130"/>
                </a:solidFill>
                <a:latin typeface="Swiss 721 Devanagari Light"/>
                <a:ea typeface="Swiss 721 Devanagari Light"/>
                <a:cs typeface="Swiss 721 Devanagari Light"/>
                <a:sym typeface="Swiss 721 Devanagari Light"/>
              </a:rPr>
              <a:t>sinus access</a:t>
            </a:r>
          </a:p>
        </p:txBody>
      </p:sp>
      <p:sp>
        <p:nvSpPr>
          <p:cNvPr name="TextBox 13" id="13"/>
          <p:cNvSpPr txBox="true"/>
          <p:nvPr/>
        </p:nvSpPr>
        <p:spPr>
          <a:xfrm rot="0">
            <a:off x="2836593" y="1495616"/>
            <a:ext cx="4486380" cy="278482"/>
          </a:xfrm>
          <a:prstGeom prst="rect">
            <a:avLst/>
          </a:prstGeom>
        </p:spPr>
        <p:txBody>
          <a:bodyPr anchor="t" rtlCol="false" tIns="0" lIns="0" bIns="0" rIns="0">
            <a:spAutoFit/>
          </a:bodyPr>
          <a:lstStyle/>
          <a:p>
            <a:pPr algn="l">
              <a:lnSpc>
                <a:spcPts val="2157"/>
              </a:lnSpc>
            </a:pPr>
            <a:r>
              <a:rPr lang="en-US" sz="1000">
                <a:solidFill>
                  <a:srgbClr val="313130"/>
                </a:solidFill>
                <a:latin typeface="Swiss 721 Devanagari Light"/>
                <a:ea typeface="Swiss 721 Devanagari Light"/>
                <a:cs typeface="Swiss 721 Devanagari Light"/>
                <a:sym typeface="Swiss 721 Devanagari Light"/>
              </a:rPr>
              <a:t>– Distal-tip design enables responsive transmission of fine adjustment to seek </a:t>
            </a:r>
          </a:p>
        </p:txBody>
      </p:sp>
      <p:sp>
        <p:nvSpPr>
          <p:cNvPr name="TextBox 14" id="14"/>
          <p:cNvSpPr txBox="true"/>
          <p:nvPr/>
        </p:nvSpPr>
        <p:spPr>
          <a:xfrm rot="0">
            <a:off x="2971638" y="1800244"/>
            <a:ext cx="989105" cy="126082"/>
          </a:xfrm>
          <a:prstGeom prst="rect">
            <a:avLst/>
          </a:prstGeom>
        </p:spPr>
        <p:txBody>
          <a:bodyPr anchor="t" rtlCol="false" tIns="0" lIns="0" bIns="0" rIns="0">
            <a:spAutoFit/>
          </a:bodyPr>
          <a:lstStyle/>
          <a:p>
            <a:pPr algn="l">
              <a:lnSpc>
                <a:spcPts val="500"/>
              </a:lnSpc>
            </a:pPr>
            <a:r>
              <a:rPr lang="en-US" sz="1000" spc="9">
                <a:solidFill>
                  <a:srgbClr val="313130"/>
                </a:solidFill>
                <a:latin typeface="Swiss 721 Devanagari Light"/>
                <a:ea typeface="Swiss 721 Devanagari Light"/>
                <a:cs typeface="Swiss 721 Devanagari Light"/>
                <a:sym typeface="Swiss 721 Devanagari Light"/>
              </a:rPr>
              <a:t>visualized targets</a:t>
            </a:r>
          </a:p>
        </p:txBody>
      </p:sp>
      <p:sp>
        <p:nvSpPr>
          <p:cNvPr name="TextBox 15" id="15"/>
          <p:cNvSpPr txBox="true"/>
          <p:nvPr/>
        </p:nvSpPr>
        <p:spPr>
          <a:xfrm rot="0">
            <a:off x="2836593" y="1836982"/>
            <a:ext cx="4146956" cy="316582"/>
          </a:xfrm>
          <a:prstGeom prst="rect">
            <a:avLst/>
          </a:prstGeom>
        </p:spPr>
        <p:txBody>
          <a:bodyPr anchor="t" rtlCol="false" tIns="0" lIns="0" bIns="0" rIns="0">
            <a:spAutoFit/>
          </a:bodyPr>
          <a:lstStyle/>
          <a:p>
            <a:pPr algn="l">
              <a:lnSpc>
                <a:spcPts val="2500"/>
              </a:lnSpc>
            </a:pPr>
            <a:r>
              <a:rPr lang="en-US" sz="1000">
                <a:solidFill>
                  <a:srgbClr val="313130"/>
                </a:solidFill>
                <a:latin typeface="Swiss 721 Devanagari Light"/>
                <a:ea typeface="Swiss 721 Devanagari Light"/>
                <a:cs typeface="Swiss 721 Devanagari Light"/>
                <a:sym typeface="Swiss 721 Devanagari Light"/>
              </a:rPr>
              <a:t>– Compatible with light guide cable, connecting to a standard light source</a:t>
            </a:r>
          </a:p>
        </p:txBody>
      </p:sp>
      <p:sp>
        <p:nvSpPr>
          <p:cNvPr name="TextBox 16" id="16"/>
          <p:cNvSpPr txBox="true"/>
          <p:nvPr/>
        </p:nvSpPr>
        <p:spPr>
          <a:xfrm rot="0">
            <a:off x="5209746" y="7871546"/>
            <a:ext cx="51664" cy="101136"/>
          </a:xfrm>
          <a:prstGeom prst="rect">
            <a:avLst/>
          </a:prstGeom>
        </p:spPr>
        <p:txBody>
          <a:bodyPr anchor="t" rtlCol="false" tIns="0" lIns="0" bIns="0" rIns="0">
            <a:spAutoFit/>
          </a:bodyPr>
          <a:lstStyle/>
          <a:p>
            <a:pPr algn="l">
              <a:lnSpc>
                <a:spcPts val="700"/>
              </a:lnSpc>
            </a:pPr>
            <a:r>
              <a:rPr lang="en-US" sz="500">
                <a:solidFill>
                  <a:srgbClr val="313130"/>
                </a:solidFill>
                <a:latin typeface="Swiss 721 Devanagari Light"/>
                <a:ea typeface="Swiss 721 Devanagari Light"/>
                <a:cs typeface="Swiss 721 Devanagari Light"/>
                <a:sym typeface="Swiss 721 Devanagari Light"/>
              </a:rPr>
              <a:t>O</a:t>
            </a:r>
          </a:p>
        </p:txBody>
      </p:sp>
      <p:sp>
        <p:nvSpPr>
          <p:cNvPr name="TextBox 17" id="17"/>
          <p:cNvSpPr txBox="true"/>
          <p:nvPr/>
        </p:nvSpPr>
        <p:spPr>
          <a:xfrm rot="0">
            <a:off x="1029548" y="337623"/>
            <a:ext cx="94955" cy="53511"/>
          </a:xfrm>
          <a:prstGeom prst="rect">
            <a:avLst/>
          </a:prstGeom>
        </p:spPr>
        <p:txBody>
          <a:bodyPr anchor="t" rtlCol="false" tIns="0" lIns="0" bIns="0" rIns="0">
            <a:spAutoFit/>
          </a:bodyPr>
          <a:lstStyle/>
          <a:p>
            <a:pPr algn="l">
              <a:lnSpc>
                <a:spcPts val="281"/>
              </a:lnSpc>
            </a:pPr>
            <a:r>
              <a:rPr lang="en-US" b="true" sz="500">
                <a:solidFill>
                  <a:srgbClr val="5E97CE"/>
                </a:solidFill>
                <a:latin typeface="Swiss 721 Devanagari Bold"/>
                <a:ea typeface="Swiss 721 Devanagari Bold"/>
                <a:cs typeface="Swiss 721 Devanagari Bold"/>
                <a:sym typeface="Swiss 721 Devanagari Bold"/>
              </a:rPr>
              <a:t>TM</a:t>
            </a:r>
          </a:p>
        </p:txBody>
      </p:sp>
      <p:sp>
        <p:nvSpPr>
          <p:cNvPr name="TextBox 18" id="18"/>
          <p:cNvSpPr txBox="true"/>
          <p:nvPr/>
        </p:nvSpPr>
        <p:spPr>
          <a:xfrm rot="0">
            <a:off x="342252" y="342224"/>
            <a:ext cx="847515" cy="161268"/>
          </a:xfrm>
          <a:prstGeom prst="rect">
            <a:avLst/>
          </a:prstGeom>
        </p:spPr>
        <p:txBody>
          <a:bodyPr anchor="t" rtlCol="false" tIns="0" lIns="0" bIns="0" rIns="0">
            <a:spAutoFit/>
          </a:bodyPr>
          <a:lstStyle/>
          <a:p>
            <a:pPr algn="l">
              <a:lnSpc>
                <a:spcPts val="788"/>
              </a:lnSpc>
            </a:pPr>
            <a:r>
              <a:rPr lang="en-US" b="true" sz="1399">
                <a:solidFill>
                  <a:srgbClr val="5E97CE"/>
                </a:solidFill>
                <a:latin typeface="Swiss 721 Devanagari Bold"/>
                <a:ea typeface="Swiss 721 Devanagari Bold"/>
                <a:cs typeface="Swiss 721 Devanagari Bold"/>
                <a:sym typeface="Swiss 721 Devanagari Bold"/>
              </a:rPr>
              <a:t>MESIRE </a:t>
            </a:r>
          </a:p>
        </p:txBody>
      </p:sp>
      <p:sp>
        <p:nvSpPr>
          <p:cNvPr name="TextBox 19" id="19"/>
          <p:cNvSpPr txBox="true"/>
          <p:nvPr/>
        </p:nvSpPr>
        <p:spPr>
          <a:xfrm rot="0">
            <a:off x="1173147" y="227924"/>
            <a:ext cx="2309060" cy="275568"/>
          </a:xfrm>
          <a:prstGeom prst="rect">
            <a:avLst/>
          </a:prstGeom>
        </p:spPr>
        <p:txBody>
          <a:bodyPr anchor="t" rtlCol="false" tIns="0" lIns="0" bIns="0" rIns="0">
            <a:spAutoFit/>
          </a:bodyPr>
          <a:lstStyle/>
          <a:p>
            <a:pPr algn="l">
              <a:lnSpc>
                <a:spcPts val="1959"/>
              </a:lnSpc>
            </a:pPr>
            <a:r>
              <a:rPr lang="en-US" b="true" sz="1399">
                <a:solidFill>
                  <a:srgbClr val="5E97CE"/>
                </a:solidFill>
                <a:latin typeface="Swiss 721 Devanagari Bold"/>
                <a:ea typeface="Swiss 721 Devanagari Bold"/>
                <a:cs typeface="Swiss 721 Devanagari Bold"/>
                <a:sym typeface="Swiss 721 Devanagari Bold"/>
              </a:rPr>
              <a:t>Illuminus Sinus Light Wire:</a:t>
            </a:r>
          </a:p>
        </p:txBody>
      </p:sp>
      <p:sp>
        <p:nvSpPr>
          <p:cNvPr name="TextBox 20" id="20"/>
          <p:cNvSpPr txBox="true"/>
          <p:nvPr/>
        </p:nvSpPr>
        <p:spPr>
          <a:xfrm rot="0">
            <a:off x="363607" y="5582393"/>
            <a:ext cx="1739570" cy="241887"/>
          </a:xfrm>
          <a:prstGeom prst="rect">
            <a:avLst/>
          </a:prstGeom>
        </p:spPr>
        <p:txBody>
          <a:bodyPr anchor="t" rtlCol="false" tIns="0" lIns="0" bIns="0" rIns="0">
            <a:spAutoFit/>
          </a:bodyPr>
          <a:lstStyle/>
          <a:p>
            <a:pPr algn="l">
              <a:lnSpc>
                <a:spcPts val="1959"/>
              </a:lnSpc>
            </a:pPr>
            <a:r>
              <a:rPr lang="en-US" sz="1399" spc="-15">
                <a:solidFill>
                  <a:srgbClr val="5E97CE"/>
                </a:solidFill>
                <a:latin typeface="IBM Plex Sans"/>
                <a:ea typeface="IBM Plex Sans"/>
                <a:cs typeface="IBM Plex Sans"/>
                <a:sym typeface="IBM Plex Sans"/>
              </a:rPr>
              <a:t>Ordering Information:</a:t>
            </a:r>
          </a:p>
        </p:txBody>
      </p:sp>
      <p:sp>
        <p:nvSpPr>
          <p:cNvPr name="TextBox 21" id="21"/>
          <p:cNvSpPr txBox="true"/>
          <p:nvPr/>
        </p:nvSpPr>
        <p:spPr>
          <a:xfrm rot="0">
            <a:off x="1619469" y="9423254"/>
            <a:ext cx="385248" cy="171421"/>
          </a:xfrm>
          <a:prstGeom prst="rect">
            <a:avLst/>
          </a:prstGeom>
        </p:spPr>
        <p:txBody>
          <a:bodyPr anchor="t" rtlCol="false" tIns="0" lIns="0" bIns="0" rIns="0">
            <a:spAutoFit/>
          </a:bodyPr>
          <a:lstStyle/>
          <a:p>
            <a:pPr algn="l">
              <a:lnSpc>
                <a:spcPts val="1400"/>
              </a:lnSpc>
            </a:pPr>
            <a:r>
              <a:rPr lang="en-US" sz="1000" spc="-11">
                <a:solidFill>
                  <a:srgbClr val="313130"/>
                </a:solidFill>
                <a:latin typeface="IBM Plex Sans"/>
                <a:ea typeface="IBM Plex Sans"/>
                <a:cs typeface="IBM Plex Sans"/>
                <a:sym typeface="IBM Plex Sans"/>
              </a:rPr>
              <a:t>Mesire</a:t>
            </a:r>
          </a:p>
        </p:txBody>
      </p:sp>
      <p:sp>
        <p:nvSpPr>
          <p:cNvPr name="TextBox 22" id="22"/>
          <p:cNvSpPr txBox="true"/>
          <p:nvPr/>
        </p:nvSpPr>
        <p:spPr>
          <a:xfrm rot="0">
            <a:off x="1916087" y="9696679"/>
            <a:ext cx="401831" cy="171421"/>
          </a:xfrm>
          <a:prstGeom prst="rect">
            <a:avLst/>
          </a:prstGeom>
        </p:spPr>
        <p:txBody>
          <a:bodyPr anchor="t" rtlCol="false" tIns="0" lIns="0" bIns="0" rIns="0">
            <a:spAutoFit/>
          </a:bodyPr>
          <a:lstStyle/>
          <a:p>
            <a:pPr algn="l">
              <a:lnSpc>
                <a:spcPts val="1400"/>
              </a:lnSpc>
            </a:pPr>
            <a:r>
              <a:rPr lang="en-US" sz="1000" spc="-11">
                <a:solidFill>
                  <a:srgbClr val="313130"/>
                </a:solidFill>
                <a:latin typeface="IBM Plex Sans"/>
                <a:ea typeface="IBM Plex Sans"/>
                <a:cs typeface="IBM Plex Sans"/>
                <a:sym typeface="IBM Plex Sans"/>
              </a:rPr>
              <a:t>Sr. No.</a:t>
            </a:r>
          </a:p>
        </p:txBody>
      </p:sp>
      <p:sp>
        <p:nvSpPr>
          <p:cNvPr name="TextBox 23" id="23"/>
          <p:cNvSpPr txBox="true"/>
          <p:nvPr/>
        </p:nvSpPr>
        <p:spPr>
          <a:xfrm rot="0">
            <a:off x="1602972" y="5841092"/>
            <a:ext cx="1839382" cy="240440"/>
          </a:xfrm>
          <a:prstGeom prst="rect">
            <a:avLst/>
          </a:prstGeom>
        </p:spPr>
        <p:txBody>
          <a:bodyPr anchor="t" rtlCol="false" tIns="0" lIns="0" bIns="0" rIns="0">
            <a:spAutoFit/>
          </a:bodyPr>
          <a:lstStyle/>
          <a:p>
            <a:pPr algn="l">
              <a:lnSpc>
                <a:spcPts val="2104"/>
              </a:lnSpc>
            </a:pPr>
            <a:r>
              <a:rPr lang="en-US" sz="1000" spc="-11">
                <a:solidFill>
                  <a:srgbClr val="313130"/>
                </a:solidFill>
                <a:latin typeface="IBM Plex Sans"/>
                <a:ea typeface="IBM Plex Sans"/>
                <a:cs typeface="IBM Plex Sans"/>
                <a:sym typeface="IBM Plex Sans"/>
              </a:rPr>
              <a:t>Mesire</a:t>
            </a:r>
            <a:r>
              <a:rPr lang="en-US" sz="1000" spc="-11">
                <a:solidFill>
                  <a:srgbClr val="313130"/>
                </a:solidFill>
                <a:latin typeface="IBM Plex Sans"/>
                <a:ea typeface="IBM Plex Sans"/>
                <a:cs typeface="IBM Plex Sans"/>
                <a:sym typeface="IBM Plex Sans"/>
              </a:rPr>
              <a:t>TM</a:t>
            </a:r>
            <a:r>
              <a:rPr lang="en-US" sz="1000" spc="-11">
                <a:solidFill>
                  <a:srgbClr val="313130"/>
                </a:solidFill>
                <a:latin typeface="IBM Plex Sans"/>
                <a:ea typeface="IBM Plex Sans"/>
                <a:cs typeface="IBM Plex Sans"/>
                <a:sym typeface="IBM Plex Sans"/>
              </a:rPr>
              <a:t> Sinus Balloon Catheter</a:t>
            </a:r>
          </a:p>
        </p:txBody>
      </p:sp>
      <p:sp>
        <p:nvSpPr>
          <p:cNvPr name="TextBox 24" id="24"/>
          <p:cNvSpPr txBox="true"/>
          <p:nvPr/>
        </p:nvSpPr>
        <p:spPr>
          <a:xfrm rot="0">
            <a:off x="1916087" y="6110621"/>
            <a:ext cx="401831" cy="238096"/>
          </a:xfrm>
          <a:prstGeom prst="rect">
            <a:avLst/>
          </a:prstGeom>
        </p:spPr>
        <p:txBody>
          <a:bodyPr anchor="t" rtlCol="false" tIns="0" lIns="0" bIns="0" rIns="0">
            <a:spAutoFit/>
          </a:bodyPr>
          <a:lstStyle/>
          <a:p>
            <a:pPr algn="l">
              <a:lnSpc>
                <a:spcPts val="2104"/>
              </a:lnSpc>
            </a:pPr>
            <a:r>
              <a:rPr lang="en-US" sz="1000" spc="-11">
                <a:solidFill>
                  <a:srgbClr val="313130"/>
                </a:solidFill>
                <a:latin typeface="IBM Plex Sans"/>
                <a:ea typeface="IBM Plex Sans"/>
                <a:cs typeface="IBM Plex Sans"/>
                <a:sym typeface="IBM Plex Sans"/>
              </a:rPr>
              <a:t>Sr. No.</a:t>
            </a:r>
          </a:p>
        </p:txBody>
      </p:sp>
      <p:sp>
        <p:nvSpPr>
          <p:cNvPr name="TextBox 25" id="25"/>
          <p:cNvSpPr txBox="true"/>
          <p:nvPr/>
        </p:nvSpPr>
        <p:spPr>
          <a:xfrm rot="0">
            <a:off x="2635110" y="6110554"/>
            <a:ext cx="805872" cy="1105872"/>
          </a:xfrm>
          <a:prstGeom prst="rect">
            <a:avLst/>
          </a:prstGeom>
        </p:spPr>
        <p:txBody>
          <a:bodyPr anchor="t" rtlCol="false" tIns="0" lIns="0" bIns="0" rIns="0">
            <a:spAutoFit/>
          </a:bodyPr>
          <a:lstStyle/>
          <a:p>
            <a:pPr algn="ctr">
              <a:lnSpc>
                <a:spcPts val="2104"/>
              </a:lnSpc>
            </a:pPr>
            <a:r>
              <a:rPr lang="en-US" sz="1000" spc="-11">
                <a:solidFill>
                  <a:srgbClr val="313130"/>
                </a:solidFill>
                <a:latin typeface="IBM Plex Sans"/>
                <a:ea typeface="IBM Plex Sans"/>
                <a:cs typeface="IBM Plex Sans"/>
                <a:sym typeface="IBM Plex Sans"/>
              </a:rPr>
              <a:t>Product Code</a:t>
            </a:r>
          </a:p>
          <a:p>
            <a:pPr algn="ctr">
              <a:lnSpc>
                <a:spcPts val="1470"/>
              </a:lnSpc>
            </a:pPr>
            <a:r>
              <a:rPr lang="en-US" sz="1050">
                <a:solidFill>
                  <a:srgbClr val="313130"/>
                </a:solidFill>
                <a:latin typeface="Swiss 721 Devanagari Light"/>
                <a:ea typeface="Swiss 721 Devanagari Light"/>
                <a:cs typeface="Swiss 721 Devanagari Light"/>
                <a:sym typeface="Swiss 721 Devanagari Light"/>
              </a:rPr>
              <a:t>MSB50017 MSB60017 MSB70017</a:t>
            </a:r>
          </a:p>
        </p:txBody>
      </p:sp>
      <p:sp>
        <p:nvSpPr>
          <p:cNvPr name="TextBox 26" id="26"/>
          <p:cNvSpPr txBox="true"/>
          <p:nvPr/>
        </p:nvSpPr>
        <p:spPr>
          <a:xfrm rot="0">
            <a:off x="1618469" y="7314895"/>
            <a:ext cx="2134476" cy="221390"/>
          </a:xfrm>
          <a:prstGeom prst="rect">
            <a:avLst/>
          </a:prstGeom>
        </p:spPr>
        <p:txBody>
          <a:bodyPr anchor="t" rtlCol="false" tIns="0" lIns="0" bIns="0" rIns="0">
            <a:spAutoFit/>
          </a:bodyPr>
          <a:lstStyle/>
          <a:p>
            <a:pPr algn="l">
              <a:lnSpc>
                <a:spcPts val="1978"/>
              </a:lnSpc>
            </a:pPr>
            <a:r>
              <a:rPr lang="en-US" sz="1000" spc="-11">
                <a:solidFill>
                  <a:srgbClr val="313130"/>
                </a:solidFill>
                <a:latin typeface="IBM Plex Sans"/>
                <a:ea typeface="IBM Plex Sans"/>
                <a:cs typeface="IBM Plex Sans"/>
                <a:sym typeface="IBM Plex Sans"/>
              </a:rPr>
              <a:t>Mesire</a:t>
            </a:r>
            <a:r>
              <a:rPr lang="en-US" sz="1000" spc="-11">
                <a:solidFill>
                  <a:srgbClr val="313130"/>
                </a:solidFill>
                <a:latin typeface="IBM Plex Sans"/>
                <a:ea typeface="IBM Plex Sans"/>
                <a:cs typeface="IBM Plex Sans"/>
                <a:sym typeface="IBM Plex Sans"/>
              </a:rPr>
              <a:t>TM</a:t>
            </a:r>
            <a:r>
              <a:rPr lang="en-US" sz="1000" spc="-11">
                <a:solidFill>
                  <a:srgbClr val="313130"/>
                </a:solidFill>
                <a:latin typeface="IBM Plex Sans"/>
                <a:ea typeface="IBM Plex Sans"/>
                <a:cs typeface="IBM Plex Sans"/>
                <a:sym typeface="IBM Plex Sans"/>
              </a:rPr>
              <a:t> Guide Sinus Guide Catheter</a:t>
            </a:r>
          </a:p>
        </p:txBody>
      </p:sp>
      <p:sp>
        <p:nvSpPr>
          <p:cNvPr name="TextBox 27" id="27"/>
          <p:cNvSpPr txBox="true"/>
          <p:nvPr/>
        </p:nvSpPr>
        <p:spPr>
          <a:xfrm rot="0">
            <a:off x="2021729" y="7568403"/>
            <a:ext cx="401831" cy="219046"/>
          </a:xfrm>
          <a:prstGeom prst="rect">
            <a:avLst/>
          </a:prstGeom>
        </p:spPr>
        <p:txBody>
          <a:bodyPr anchor="t" rtlCol="false" tIns="0" lIns="0" bIns="0" rIns="0">
            <a:spAutoFit/>
          </a:bodyPr>
          <a:lstStyle/>
          <a:p>
            <a:pPr algn="l">
              <a:lnSpc>
                <a:spcPts val="1978"/>
              </a:lnSpc>
            </a:pPr>
            <a:r>
              <a:rPr lang="en-US" sz="1000" spc="-11">
                <a:solidFill>
                  <a:srgbClr val="313130"/>
                </a:solidFill>
                <a:latin typeface="IBM Plex Sans"/>
                <a:ea typeface="IBM Plex Sans"/>
                <a:cs typeface="IBM Plex Sans"/>
                <a:sym typeface="IBM Plex Sans"/>
              </a:rPr>
              <a:t>Sr. No.</a:t>
            </a:r>
          </a:p>
        </p:txBody>
      </p:sp>
      <p:sp>
        <p:nvSpPr>
          <p:cNvPr name="TextBox 28" id="28"/>
          <p:cNvSpPr txBox="true"/>
          <p:nvPr/>
        </p:nvSpPr>
        <p:spPr>
          <a:xfrm rot="0">
            <a:off x="3143136" y="7568327"/>
            <a:ext cx="805872" cy="1662827"/>
          </a:xfrm>
          <a:prstGeom prst="rect">
            <a:avLst/>
          </a:prstGeom>
        </p:spPr>
        <p:txBody>
          <a:bodyPr anchor="t" rtlCol="false" tIns="0" lIns="0" bIns="0" rIns="0">
            <a:spAutoFit/>
          </a:bodyPr>
          <a:lstStyle/>
          <a:p>
            <a:pPr algn="ctr">
              <a:lnSpc>
                <a:spcPts val="1978"/>
              </a:lnSpc>
            </a:pPr>
            <a:r>
              <a:rPr lang="en-US" sz="1000" spc="-11">
                <a:solidFill>
                  <a:srgbClr val="313130"/>
                </a:solidFill>
                <a:latin typeface="IBM Plex Sans"/>
                <a:ea typeface="IBM Plex Sans"/>
                <a:cs typeface="IBM Plex Sans"/>
                <a:sym typeface="IBM Plex Sans"/>
              </a:rPr>
              <a:t>Product Code</a:t>
            </a:r>
          </a:p>
          <a:p>
            <a:pPr algn="ctr">
              <a:lnSpc>
                <a:spcPts val="1470"/>
              </a:lnSpc>
            </a:pPr>
            <a:r>
              <a:rPr lang="en-US" sz="1050">
                <a:solidFill>
                  <a:srgbClr val="313130"/>
                </a:solidFill>
                <a:latin typeface="Swiss 721 Devanagari Light"/>
                <a:ea typeface="Swiss 721 Devanagari Light"/>
                <a:cs typeface="Swiss 721 Devanagari Light"/>
                <a:sym typeface="Swiss 721 Devanagari Light"/>
              </a:rPr>
              <a:t>MSG000 MSG030 MSG070 MSG090 MSG110</a:t>
            </a:r>
          </a:p>
        </p:txBody>
      </p:sp>
      <p:sp>
        <p:nvSpPr>
          <p:cNvPr name="TextBox 29" id="29"/>
          <p:cNvSpPr txBox="true"/>
          <p:nvPr/>
        </p:nvSpPr>
        <p:spPr>
          <a:xfrm rot="0">
            <a:off x="3795093" y="6176220"/>
            <a:ext cx="997325" cy="1037625"/>
          </a:xfrm>
          <a:prstGeom prst="rect">
            <a:avLst/>
          </a:prstGeom>
        </p:spPr>
        <p:txBody>
          <a:bodyPr anchor="t" rtlCol="false" tIns="0" lIns="0" bIns="0" rIns="0">
            <a:spAutoFit/>
          </a:bodyPr>
          <a:lstStyle/>
          <a:p>
            <a:pPr algn="ctr">
              <a:lnSpc>
                <a:spcPts val="1400"/>
              </a:lnSpc>
            </a:pPr>
            <a:r>
              <a:rPr lang="en-US" sz="1000" spc="-11">
                <a:solidFill>
                  <a:srgbClr val="313130"/>
                </a:solidFill>
                <a:latin typeface="IBM Plex Sans"/>
                <a:ea typeface="IBM Plex Sans"/>
                <a:cs typeface="IBM Plex Sans"/>
                <a:sym typeface="IBM Plex Sans"/>
              </a:rPr>
              <a:t>Balloon Diameter</a:t>
            </a:r>
          </a:p>
          <a:p>
            <a:pPr algn="ctr">
              <a:lnSpc>
                <a:spcPts val="1470"/>
              </a:lnSpc>
            </a:pPr>
            <a:r>
              <a:rPr lang="en-US" sz="1050">
                <a:solidFill>
                  <a:srgbClr val="313130"/>
                </a:solidFill>
                <a:latin typeface="Swiss 721 Devanagari Light"/>
                <a:ea typeface="Swiss 721 Devanagari Light"/>
                <a:cs typeface="Swiss 721 Devanagari Light"/>
                <a:sym typeface="Swiss 721 Devanagari Light"/>
              </a:rPr>
              <a:t>5 mm 6 mm 7 mm</a:t>
            </a:r>
          </a:p>
        </p:txBody>
      </p:sp>
      <p:sp>
        <p:nvSpPr>
          <p:cNvPr name="TextBox 30" id="30"/>
          <p:cNvSpPr txBox="true"/>
          <p:nvPr/>
        </p:nvSpPr>
        <p:spPr>
          <a:xfrm rot="0">
            <a:off x="2086108" y="9356579"/>
            <a:ext cx="1489815" cy="238096"/>
          </a:xfrm>
          <a:prstGeom prst="rect">
            <a:avLst/>
          </a:prstGeom>
        </p:spPr>
        <p:txBody>
          <a:bodyPr anchor="t" rtlCol="false" tIns="0" lIns="0" bIns="0" rIns="0">
            <a:spAutoFit/>
          </a:bodyPr>
          <a:lstStyle/>
          <a:p>
            <a:pPr algn="l">
              <a:lnSpc>
                <a:spcPts val="2152"/>
              </a:lnSpc>
            </a:pPr>
            <a:r>
              <a:rPr lang="en-US" sz="1000" spc="-11">
                <a:solidFill>
                  <a:srgbClr val="313130"/>
                </a:solidFill>
                <a:latin typeface="IBM Plex Sans"/>
                <a:ea typeface="IBM Plex Sans"/>
                <a:cs typeface="IBM Plex Sans"/>
                <a:sym typeface="IBM Plex Sans"/>
              </a:rPr>
              <a:t> Illuminus Sinus light Wire</a:t>
            </a:r>
          </a:p>
        </p:txBody>
      </p:sp>
      <p:sp>
        <p:nvSpPr>
          <p:cNvPr name="TextBox 31" id="31"/>
          <p:cNvSpPr txBox="true"/>
          <p:nvPr/>
        </p:nvSpPr>
        <p:spPr>
          <a:xfrm rot="0">
            <a:off x="2635110" y="9629937"/>
            <a:ext cx="805872" cy="633755"/>
          </a:xfrm>
          <a:prstGeom prst="rect">
            <a:avLst/>
          </a:prstGeom>
        </p:spPr>
        <p:txBody>
          <a:bodyPr anchor="t" rtlCol="false" tIns="0" lIns="0" bIns="0" rIns="0">
            <a:spAutoFit/>
          </a:bodyPr>
          <a:lstStyle/>
          <a:p>
            <a:pPr algn="ctr">
              <a:lnSpc>
                <a:spcPts val="2152"/>
              </a:lnSpc>
            </a:pPr>
            <a:r>
              <a:rPr lang="en-US" sz="1000" spc="-11">
                <a:solidFill>
                  <a:srgbClr val="313130"/>
                </a:solidFill>
                <a:latin typeface="IBM Plex Sans"/>
                <a:ea typeface="IBM Plex Sans"/>
                <a:cs typeface="IBM Plex Sans"/>
                <a:sym typeface="IBM Plex Sans"/>
              </a:rPr>
              <a:t>Product Code</a:t>
            </a:r>
          </a:p>
          <a:p>
            <a:pPr algn="ctr">
              <a:lnSpc>
                <a:spcPts val="1470"/>
              </a:lnSpc>
            </a:pPr>
            <a:r>
              <a:rPr lang="en-US" sz="1050">
                <a:solidFill>
                  <a:srgbClr val="313130"/>
                </a:solidFill>
                <a:latin typeface="Swiss 721 Devanagari Light"/>
                <a:ea typeface="Swiss 721 Devanagari Light"/>
                <a:cs typeface="Swiss 721 Devanagari Light"/>
                <a:sym typeface="Swiss 721 Devanagari Light"/>
              </a:rPr>
              <a:t>MSI083</a:t>
            </a:r>
          </a:p>
        </p:txBody>
      </p:sp>
      <p:sp>
        <p:nvSpPr>
          <p:cNvPr name="TextBox 32" id="32"/>
          <p:cNvSpPr txBox="true"/>
          <p:nvPr/>
        </p:nvSpPr>
        <p:spPr>
          <a:xfrm rot="0">
            <a:off x="3655133" y="9616859"/>
            <a:ext cx="1285570" cy="642899"/>
          </a:xfrm>
          <a:prstGeom prst="rect">
            <a:avLst/>
          </a:prstGeom>
        </p:spPr>
        <p:txBody>
          <a:bodyPr anchor="t" rtlCol="false" tIns="0" lIns="0" bIns="0" rIns="0">
            <a:spAutoFit/>
          </a:bodyPr>
          <a:lstStyle/>
          <a:p>
            <a:pPr algn="ctr">
              <a:lnSpc>
                <a:spcPts val="2152"/>
              </a:lnSpc>
            </a:pPr>
            <a:r>
              <a:rPr lang="en-US" sz="1000" spc="-11">
                <a:solidFill>
                  <a:srgbClr val="313130"/>
                </a:solidFill>
                <a:latin typeface="IBM Plex Sans"/>
                <a:ea typeface="IBM Plex Sans"/>
                <a:cs typeface="IBM Plex Sans"/>
                <a:sym typeface="IBM Plex Sans"/>
              </a:rPr>
              <a:t>Diameter of Light Wire</a:t>
            </a:r>
          </a:p>
          <a:p>
            <a:pPr algn="ctr">
              <a:lnSpc>
                <a:spcPts val="1470"/>
              </a:lnSpc>
            </a:pPr>
            <a:r>
              <a:rPr lang="en-US" sz="1050">
                <a:solidFill>
                  <a:srgbClr val="313130"/>
                </a:solidFill>
                <a:latin typeface="Swiss 721 Devanagari Light"/>
                <a:ea typeface="Swiss 721 Devanagari Light"/>
                <a:cs typeface="Swiss 721 Devanagari Light"/>
                <a:sym typeface="Swiss 721 Devanagari Light"/>
              </a:rPr>
              <a:t>0.83 mm</a:t>
            </a:r>
          </a:p>
        </p:txBody>
      </p:sp>
      <p:sp>
        <p:nvSpPr>
          <p:cNvPr name="TextBox 33" id="33"/>
          <p:cNvSpPr txBox="true"/>
          <p:nvPr/>
        </p:nvSpPr>
        <p:spPr>
          <a:xfrm rot="0">
            <a:off x="4479769" y="7603388"/>
            <a:ext cx="1392555" cy="171421"/>
          </a:xfrm>
          <a:prstGeom prst="rect">
            <a:avLst/>
          </a:prstGeom>
        </p:spPr>
        <p:txBody>
          <a:bodyPr anchor="t" rtlCol="false" tIns="0" lIns="0" bIns="0" rIns="0">
            <a:spAutoFit/>
          </a:bodyPr>
          <a:lstStyle/>
          <a:p>
            <a:pPr algn="l">
              <a:lnSpc>
                <a:spcPts val="1400"/>
              </a:lnSpc>
            </a:pPr>
            <a:r>
              <a:rPr lang="en-US" sz="1000" spc="-11">
                <a:solidFill>
                  <a:srgbClr val="313130"/>
                </a:solidFill>
                <a:latin typeface="IBM Plex Sans"/>
                <a:ea typeface="IBM Plex Sans"/>
                <a:cs typeface="IBM Plex Sans"/>
                <a:sym typeface="IBM Plex Sans"/>
              </a:rPr>
              <a:t>Angle of Guide Catheter</a:t>
            </a:r>
          </a:p>
        </p:txBody>
      </p:sp>
      <p:sp>
        <p:nvSpPr>
          <p:cNvPr name="TextBox 34" id="34"/>
          <p:cNvSpPr txBox="true"/>
          <p:nvPr/>
        </p:nvSpPr>
        <p:spPr>
          <a:xfrm rot="0">
            <a:off x="5142843" y="6163456"/>
            <a:ext cx="875433" cy="1051741"/>
          </a:xfrm>
          <a:prstGeom prst="rect">
            <a:avLst/>
          </a:prstGeom>
        </p:spPr>
        <p:txBody>
          <a:bodyPr anchor="t" rtlCol="false" tIns="0" lIns="0" bIns="0" rIns="0">
            <a:spAutoFit/>
          </a:bodyPr>
          <a:lstStyle/>
          <a:p>
            <a:pPr algn="ctr">
              <a:lnSpc>
                <a:spcPts val="1400"/>
              </a:lnSpc>
            </a:pPr>
            <a:r>
              <a:rPr lang="en-US" sz="1000" spc="-11">
                <a:solidFill>
                  <a:srgbClr val="313130"/>
                </a:solidFill>
                <a:latin typeface="IBM Plex Sans"/>
                <a:ea typeface="IBM Plex Sans"/>
                <a:cs typeface="IBM Plex Sans"/>
                <a:sym typeface="IBM Plex Sans"/>
              </a:rPr>
              <a:t>Balloon Length</a:t>
            </a:r>
          </a:p>
          <a:p>
            <a:pPr algn="ctr">
              <a:lnSpc>
                <a:spcPts val="1470"/>
              </a:lnSpc>
            </a:pPr>
            <a:r>
              <a:rPr lang="en-US" sz="1050">
                <a:solidFill>
                  <a:srgbClr val="313130"/>
                </a:solidFill>
                <a:latin typeface="Swiss 721 Devanagari Light"/>
                <a:ea typeface="Swiss 721 Devanagari Light"/>
                <a:cs typeface="Swiss 721 Devanagari Light"/>
                <a:sym typeface="Swiss 721 Devanagari Light"/>
              </a:rPr>
              <a:t>17 mm 17 mm 17 mm</a:t>
            </a:r>
          </a:p>
        </p:txBody>
      </p:sp>
      <p:sp>
        <p:nvSpPr>
          <p:cNvPr name="TextBox 35" id="35"/>
          <p:cNvSpPr txBox="true"/>
          <p:nvPr/>
        </p:nvSpPr>
        <p:spPr>
          <a:xfrm rot="0">
            <a:off x="5144024" y="9703337"/>
            <a:ext cx="866756" cy="295065"/>
          </a:xfrm>
          <a:prstGeom prst="rect">
            <a:avLst/>
          </a:prstGeom>
        </p:spPr>
        <p:txBody>
          <a:bodyPr anchor="t" rtlCol="false" tIns="0" lIns="0" bIns="0" rIns="0">
            <a:spAutoFit/>
          </a:bodyPr>
          <a:lstStyle/>
          <a:p>
            <a:pPr algn="ctr">
              <a:lnSpc>
                <a:spcPts val="1199"/>
              </a:lnSpc>
            </a:pPr>
            <a:r>
              <a:rPr lang="en-US" sz="1000" spc="-11">
                <a:solidFill>
                  <a:srgbClr val="313130"/>
                </a:solidFill>
                <a:latin typeface="IBM Plex Sans"/>
                <a:ea typeface="IBM Plex Sans"/>
                <a:cs typeface="IBM Plex Sans"/>
                <a:sym typeface="IBM Plex Sans"/>
              </a:rPr>
              <a:t>Lenght of Light Wire</a:t>
            </a:r>
          </a:p>
        </p:txBody>
      </p:sp>
      <p:sp>
        <p:nvSpPr>
          <p:cNvPr name="TextBox 36" id="36"/>
          <p:cNvSpPr txBox="true"/>
          <p:nvPr/>
        </p:nvSpPr>
        <p:spPr>
          <a:xfrm rot="0">
            <a:off x="2058133" y="6590919"/>
            <a:ext cx="72371" cy="574319"/>
          </a:xfrm>
          <a:prstGeom prst="rect">
            <a:avLst/>
          </a:prstGeom>
        </p:spPr>
        <p:txBody>
          <a:bodyPr anchor="t" rtlCol="false" tIns="0" lIns="0" bIns="0" rIns="0">
            <a:spAutoFit/>
          </a:bodyPr>
          <a:lstStyle/>
          <a:p>
            <a:pPr algn="just">
              <a:lnSpc>
                <a:spcPts val="2257"/>
              </a:lnSpc>
            </a:pPr>
            <a:r>
              <a:rPr lang="en-US" sz="1050">
                <a:solidFill>
                  <a:srgbClr val="313130"/>
                </a:solidFill>
                <a:latin typeface="Swiss 721 Devanagari Light"/>
                <a:ea typeface="Swiss 721 Devanagari Light"/>
                <a:cs typeface="Swiss 721 Devanagari Light"/>
                <a:sym typeface="Swiss 721 Devanagari Light"/>
              </a:rPr>
              <a:t>2 3</a:t>
            </a:r>
          </a:p>
        </p:txBody>
      </p:sp>
      <p:sp>
        <p:nvSpPr>
          <p:cNvPr name="TextBox 37" id="37"/>
          <p:cNvSpPr txBox="true"/>
          <p:nvPr/>
        </p:nvSpPr>
        <p:spPr>
          <a:xfrm rot="0">
            <a:off x="2064610" y="6379159"/>
            <a:ext cx="72361" cy="211445"/>
          </a:xfrm>
          <a:prstGeom prst="rect">
            <a:avLst/>
          </a:prstGeom>
        </p:spPr>
        <p:txBody>
          <a:bodyPr anchor="t" rtlCol="false" tIns="0" lIns="0" bIns="0" rIns="0">
            <a:spAutoFit/>
          </a:bodyPr>
          <a:lstStyle/>
          <a:p>
            <a:pPr algn="just">
              <a:lnSpc>
                <a:spcPts val="1470"/>
              </a:lnSpc>
            </a:pPr>
            <a:r>
              <a:rPr lang="en-US" sz="1050">
                <a:solidFill>
                  <a:srgbClr val="313130"/>
                </a:solidFill>
                <a:latin typeface="Swiss 721 Devanagari Light"/>
                <a:ea typeface="Swiss 721 Devanagari Light"/>
                <a:cs typeface="Swiss 721 Devanagari Light"/>
                <a:sym typeface="Swiss 721 Devanagari Light"/>
              </a:rPr>
              <a:t>1</a:t>
            </a:r>
          </a:p>
        </p:txBody>
      </p:sp>
      <p:sp>
        <p:nvSpPr>
          <p:cNvPr name="TextBox 38" id="38"/>
          <p:cNvSpPr txBox="true"/>
          <p:nvPr/>
        </p:nvSpPr>
        <p:spPr>
          <a:xfrm rot="0">
            <a:off x="2064610" y="10002422"/>
            <a:ext cx="72361" cy="211445"/>
          </a:xfrm>
          <a:prstGeom prst="rect">
            <a:avLst/>
          </a:prstGeom>
        </p:spPr>
        <p:txBody>
          <a:bodyPr anchor="t" rtlCol="false" tIns="0" lIns="0" bIns="0" rIns="0">
            <a:spAutoFit/>
          </a:bodyPr>
          <a:lstStyle/>
          <a:p>
            <a:pPr algn="l">
              <a:lnSpc>
                <a:spcPts val="1470"/>
              </a:lnSpc>
            </a:pPr>
            <a:r>
              <a:rPr lang="en-US" sz="1050">
                <a:solidFill>
                  <a:srgbClr val="313130"/>
                </a:solidFill>
                <a:latin typeface="Swiss 721 Devanagari Light"/>
                <a:ea typeface="Swiss 721 Devanagari Light"/>
                <a:cs typeface="Swiss 721 Devanagari Light"/>
                <a:sym typeface="Swiss 721 Devanagari Light"/>
              </a:rPr>
              <a:t>1</a:t>
            </a:r>
          </a:p>
        </p:txBody>
      </p:sp>
      <p:sp>
        <p:nvSpPr>
          <p:cNvPr name="TextBox 39" id="39"/>
          <p:cNvSpPr txBox="true"/>
          <p:nvPr/>
        </p:nvSpPr>
        <p:spPr>
          <a:xfrm rot="0">
            <a:off x="2163585" y="8968511"/>
            <a:ext cx="72361" cy="211445"/>
          </a:xfrm>
          <a:prstGeom prst="rect">
            <a:avLst/>
          </a:prstGeom>
        </p:spPr>
        <p:txBody>
          <a:bodyPr anchor="t" rtlCol="false" tIns="0" lIns="0" bIns="0" rIns="0">
            <a:spAutoFit/>
          </a:bodyPr>
          <a:lstStyle/>
          <a:p>
            <a:pPr algn="l">
              <a:lnSpc>
                <a:spcPts val="1470"/>
              </a:lnSpc>
            </a:pPr>
            <a:r>
              <a:rPr lang="en-US" sz="1050">
                <a:solidFill>
                  <a:srgbClr val="313130"/>
                </a:solidFill>
                <a:latin typeface="Swiss 721 Devanagari Light"/>
                <a:ea typeface="Swiss 721 Devanagari Light"/>
                <a:cs typeface="Swiss 721 Devanagari Light"/>
                <a:sym typeface="Swiss 721 Devanagari Light"/>
              </a:rPr>
              <a:t>5</a:t>
            </a:r>
          </a:p>
        </p:txBody>
      </p:sp>
      <p:sp>
        <p:nvSpPr>
          <p:cNvPr name="TextBox 40" id="40"/>
          <p:cNvSpPr txBox="true"/>
          <p:nvPr/>
        </p:nvSpPr>
        <p:spPr>
          <a:xfrm rot="0">
            <a:off x="2163051" y="8029651"/>
            <a:ext cx="73114" cy="854450"/>
          </a:xfrm>
          <a:prstGeom prst="rect">
            <a:avLst/>
          </a:prstGeom>
        </p:spPr>
        <p:txBody>
          <a:bodyPr anchor="t" rtlCol="false" tIns="0" lIns="0" bIns="0" rIns="0">
            <a:spAutoFit/>
          </a:bodyPr>
          <a:lstStyle/>
          <a:p>
            <a:pPr algn="just">
              <a:lnSpc>
                <a:spcPts val="2222"/>
              </a:lnSpc>
            </a:pPr>
            <a:r>
              <a:rPr lang="en-US" sz="1050">
                <a:solidFill>
                  <a:srgbClr val="313130"/>
                </a:solidFill>
                <a:latin typeface="Swiss 721 Devanagari Light"/>
                <a:ea typeface="Swiss 721 Devanagari Light"/>
                <a:cs typeface="Swiss 721 Devanagari Light"/>
                <a:sym typeface="Swiss 721 Devanagari Light"/>
              </a:rPr>
              <a:t>2 3 4</a:t>
            </a:r>
          </a:p>
        </p:txBody>
      </p:sp>
      <p:sp>
        <p:nvSpPr>
          <p:cNvPr name="TextBox 41" id="41"/>
          <p:cNvSpPr txBox="true"/>
          <p:nvPr/>
        </p:nvSpPr>
        <p:spPr>
          <a:xfrm rot="0">
            <a:off x="2170252" y="7817872"/>
            <a:ext cx="72361" cy="211445"/>
          </a:xfrm>
          <a:prstGeom prst="rect">
            <a:avLst/>
          </a:prstGeom>
        </p:spPr>
        <p:txBody>
          <a:bodyPr anchor="t" rtlCol="false" tIns="0" lIns="0" bIns="0" rIns="0">
            <a:spAutoFit/>
          </a:bodyPr>
          <a:lstStyle/>
          <a:p>
            <a:pPr algn="just">
              <a:lnSpc>
                <a:spcPts val="1470"/>
              </a:lnSpc>
            </a:pPr>
            <a:r>
              <a:rPr lang="en-US" sz="1050">
                <a:solidFill>
                  <a:srgbClr val="313130"/>
                </a:solidFill>
                <a:latin typeface="Swiss 721 Devanagari Light"/>
                <a:ea typeface="Swiss 721 Devanagari Light"/>
                <a:cs typeface="Swiss 721 Devanagari Light"/>
                <a:sym typeface="Swiss 721 Devanagari Light"/>
              </a:rPr>
              <a:t>1</a:t>
            </a:r>
          </a:p>
        </p:txBody>
      </p:sp>
      <p:sp>
        <p:nvSpPr>
          <p:cNvPr name="TextBox 42" id="42"/>
          <p:cNvSpPr txBox="true"/>
          <p:nvPr/>
        </p:nvSpPr>
        <p:spPr>
          <a:xfrm rot="0">
            <a:off x="5134975" y="7815786"/>
            <a:ext cx="76238" cy="211445"/>
          </a:xfrm>
          <a:prstGeom prst="rect">
            <a:avLst/>
          </a:prstGeom>
        </p:spPr>
        <p:txBody>
          <a:bodyPr anchor="t" rtlCol="false" tIns="0" lIns="0" bIns="0" rIns="0">
            <a:spAutoFit/>
          </a:bodyPr>
          <a:lstStyle/>
          <a:p>
            <a:pPr algn="l">
              <a:lnSpc>
                <a:spcPts val="1470"/>
              </a:lnSpc>
            </a:pPr>
            <a:r>
              <a:rPr lang="en-US" sz="1050">
                <a:solidFill>
                  <a:srgbClr val="313130"/>
                </a:solidFill>
                <a:latin typeface="Swiss 721 Devanagari Light"/>
                <a:ea typeface="Swiss 721 Devanagari Light"/>
                <a:cs typeface="Swiss 721 Devanagari Light"/>
                <a:sym typeface="Swiss 721 Devanagari Light"/>
              </a:rPr>
              <a:t>0</a:t>
            </a:r>
          </a:p>
        </p:txBody>
      </p:sp>
      <p:sp>
        <p:nvSpPr>
          <p:cNvPr name="TextBox 43" id="43"/>
          <p:cNvSpPr txBox="true"/>
          <p:nvPr/>
        </p:nvSpPr>
        <p:spPr>
          <a:xfrm rot="0">
            <a:off x="5030229" y="8104575"/>
            <a:ext cx="268643" cy="1134847"/>
          </a:xfrm>
          <a:prstGeom prst="rect">
            <a:avLst/>
          </a:prstGeom>
        </p:spPr>
        <p:txBody>
          <a:bodyPr anchor="t" rtlCol="false" tIns="0" lIns="0" bIns="0" rIns="0">
            <a:spAutoFit/>
          </a:bodyPr>
          <a:lstStyle/>
          <a:p>
            <a:pPr algn="ctr">
              <a:lnSpc>
                <a:spcPts val="1470"/>
              </a:lnSpc>
            </a:pPr>
            <a:r>
              <a:rPr lang="en-US" sz="1050">
                <a:solidFill>
                  <a:srgbClr val="313130"/>
                </a:solidFill>
                <a:latin typeface="Swiss 721 Devanagari Light"/>
                <a:ea typeface="Swiss 721 Devanagari Light"/>
                <a:cs typeface="Swiss 721 Devanagari Light"/>
                <a:sym typeface="Swiss 721 Devanagari Light"/>
              </a:rPr>
              <a:t>30O 70O 90O 110O</a:t>
            </a:r>
          </a:p>
        </p:txBody>
      </p:sp>
      <p:sp>
        <p:nvSpPr>
          <p:cNvPr name="TextBox 44" id="44"/>
          <p:cNvSpPr txBox="true"/>
          <p:nvPr/>
        </p:nvSpPr>
        <p:spPr>
          <a:xfrm rot="0">
            <a:off x="5335295" y="10001088"/>
            <a:ext cx="436883" cy="211445"/>
          </a:xfrm>
          <a:prstGeom prst="rect">
            <a:avLst/>
          </a:prstGeom>
        </p:spPr>
        <p:txBody>
          <a:bodyPr anchor="t" rtlCol="false" tIns="0" lIns="0" bIns="0" rIns="0">
            <a:spAutoFit/>
          </a:bodyPr>
          <a:lstStyle/>
          <a:p>
            <a:pPr algn="l">
              <a:lnSpc>
                <a:spcPts val="1470"/>
              </a:lnSpc>
            </a:pPr>
            <a:r>
              <a:rPr lang="en-US" sz="1050">
                <a:solidFill>
                  <a:srgbClr val="313130"/>
                </a:solidFill>
                <a:latin typeface="Swiss 721 Devanagari Light"/>
                <a:ea typeface="Swiss 721 Devanagari Light"/>
                <a:cs typeface="Swiss 721 Devanagari Light"/>
                <a:sym typeface="Swiss 721 Devanagari Light"/>
              </a:rPr>
              <a:t>100 cm</a:t>
            </a:r>
          </a:p>
        </p:txBody>
      </p:sp>
      <p:sp>
        <p:nvSpPr>
          <p:cNvPr name="TextBox 45" id="45"/>
          <p:cNvSpPr txBox="true"/>
          <p:nvPr/>
        </p:nvSpPr>
        <p:spPr>
          <a:xfrm rot="0">
            <a:off x="1997164" y="9430455"/>
            <a:ext cx="90745" cy="85706"/>
          </a:xfrm>
          <a:prstGeom prst="rect">
            <a:avLst/>
          </a:prstGeom>
        </p:spPr>
        <p:txBody>
          <a:bodyPr anchor="t" rtlCol="false" tIns="0" lIns="0" bIns="0" rIns="0">
            <a:spAutoFit/>
          </a:bodyPr>
          <a:lstStyle/>
          <a:p>
            <a:pPr algn="l">
              <a:lnSpc>
                <a:spcPts val="700"/>
              </a:lnSpc>
            </a:pPr>
            <a:r>
              <a:rPr lang="en-US" sz="500" spc="-5">
                <a:solidFill>
                  <a:srgbClr val="313130"/>
                </a:solidFill>
                <a:latin typeface="IBM Plex Sans"/>
                <a:ea typeface="IBM Plex Sans"/>
                <a:cs typeface="IBM Plex Sans"/>
                <a:sym typeface="IBM Plex Sans"/>
              </a:rPr>
              <a:t>TM</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63503" y="-63503"/>
            <a:ext cx="7686027" cy="10819000"/>
          </a:xfrm>
          <a:custGeom>
            <a:avLst/>
            <a:gdLst/>
            <a:ahLst/>
            <a:cxnLst/>
            <a:rect r="r" b="b" t="t" l="l"/>
            <a:pathLst>
              <a:path h="10819000" w="7686027">
                <a:moveTo>
                  <a:pt x="0" y="0"/>
                </a:moveTo>
                <a:lnTo>
                  <a:pt x="7686027" y="0"/>
                </a:lnTo>
                <a:lnTo>
                  <a:pt x="7686027" y="10819000"/>
                </a:lnTo>
                <a:lnTo>
                  <a:pt x="0" y="108190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4038495" y="9973389"/>
            <a:ext cx="1062723" cy="362826"/>
            <a:chOff x="0" y="0"/>
            <a:chExt cx="1416964" cy="483768"/>
          </a:xfrm>
        </p:grpSpPr>
        <p:sp>
          <p:nvSpPr>
            <p:cNvPr name="Freeform 4" id="4"/>
            <p:cNvSpPr/>
            <p:nvPr/>
          </p:nvSpPr>
          <p:spPr>
            <a:xfrm flipH="false" flipV="false" rot="0">
              <a:off x="0" y="0"/>
              <a:ext cx="1416939" cy="483743"/>
            </a:xfrm>
            <a:custGeom>
              <a:avLst/>
              <a:gdLst/>
              <a:ahLst/>
              <a:cxnLst/>
              <a:rect r="r" b="b" t="t" l="l"/>
              <a:pathLst>
                <a:path h="483743" w="1416939">
                  <a:moveTo>
                    <a:pt x="0" y="0"/>
                  </a:moveTo>
                  <a:lnTo>
                    <a:pt x="1416939" y="0"/>
                  </a:lnTo>
                  <a:lnTo>
                    <a:pt x="1416939" y="483743"/>
                  </a:lnTo>
                  <a:lnTo>
                    <a:pt x="0" y="483743"/>
                  </a:lnTo>
                  <a:lnTo>
                    <a:pt x="0" y="0"/>
                  </a:lnTo>
                  <a:close/>
                </a:path>
              </a:pathLst>
            </a:custGeom>
            <a:blipFill>
              <a:blip r:embed="rId4"/>
              <a:stretch>
                <a:fillRect l="0" t="0" r="-1" b="-5"/>
              </a:stretch>
            </a:blipFill>
          </p:spPr>
        </p:sp>
      </p:grpSp>
      <p:grpSp>
        <p:nvGrpSpPr>
          <p:cNvPr name="Group 5" id="5"/>
          <p:cNvGrpSpPr/>
          <p:nvPr/>
        </p:nvGrpSpPr>
        <p:grpSpPr>
          <a:xfrm rot="0">
            <a:off x="3010633" y="9985810"/>
            <a:ext cx="981561" cy="338595"/>
            <a:chOff x="0" y="0"/>
            <a:chExt cx="1308748" cy="451460"/>
          </a:xfrm>
        </p:grpSpPr>
        <p:sp>
          <p:nvSpPr>
            <p:cNvPr name="Freeform 6" id="6"/>
            <p:cNvSpPr/>
            <p:nvPr/>
          </p:nvSpPr>
          <p:spPr>
            <a:xfrm flipH="false" flipV="false" rot="0">
              <a:off x="0" y="0"/>
              <a:ext cx="1308735" cy="451358"/>
            </a:xfrm>
            <a:custGeom>
              <a:avLst/>
              <a:gdLst/>
              <a:ahLst/>
              <a:cxnLst/>
              <a:rect r="r" b="b" t="t" l="l"/>
              <a:pathLst>
                <a:path h="451358" w="1308735">
                  <a:moveTo>
                    <a:pt x="62484" y="0"/>
                  </a:moveTo>
                  <a:cubicBezTo>
                    <a:pt x="28067" y="0"/>
                    <a:pt x="0" y="28067"/>
                    <a:pt x="0" y="62357"/>
                  </a:cubicBezTo>
                  <a:lnTo>
                    <a:pt x="0" y="389001"/>
                  </a:lnTo>
                  <a:cubicBezTo>
                    <a:pt x="0" y="423164"/>
                    <a:pt x="27686" y="451104"/>
                    <a:pt x="61722" y="451358"/>
                  </a:cubicBezTo>
                  <a:lnTo>
                    <a:pt x="1247013" y="451358"/>
                  </a:lnTo>
                  <a:cubicBezTo>
                    <a:pt x="1280668" y="450977"/>
                    <a:pt x="1308100" y="423672"/>
                    <a:pt x="1308735" y="390144"/>
                  </a:cubicBezTo>
                  <a:lnTo>
                    <a:pt x="1308735" y="61214"/>
                  </a:lnTo>
                  <a:cubicBezTo>
                    <a:pt x="1308100" y="27432"/>
                    <a:pt x="1280287" y="0"/>
                    <a:pt x="1246378" y="0"/>
                  </a:cubicBezTo>
                  <a:close/>
                </a:path>
              </a:pathLst>
            </a:custGeom>
            <a:blipFill>
              <a:blip r:embed="rId5"/>
              <a:stretch>
                <a:fillRect l="0" t="-182" r="0" b="-19"/>
              </a:stretch>
            </a:blipFill>
          </p:spPr>
        </p:sp>
      </p:grpSp>
      <p:sp>
        <p:nvSpPr>
          <p:cNvPr name="TextBox 7" id="7"/>
          <p:cNvSpPr txBox="true"/>
          <p:nvPr/>
        </p:nvSpPr>
        <p:spPr>
          <a:xfrm rot="0">
            <a:off x="3002175" y="9697088"/>
            <a:ext cx="541544" cy="174431"/>
          </a:xfrm>
          <a:prstGeom prst="rect">
            <a:avLst/>
          </a:prstGeom>
        </p:spPr>
        <p:txBody>
          <a:bodyPr anchor="t" rtlCol="false" tIns="0" lIns="0" bIns="0" rIns="0">
            <a:spAutoFit/>
          </a:bodyPr>
          <a:lstStyle/>
          <a:p>
            <a:pPr algn="l">
              <a:lnSpc>
                <a:spcPts val="1260"/>
              </a:lnSpc>
            </a:pPr>
            <a:r>
              <a:rPr lang="en-US" b="true" sz="900">
                <a:solidFill>
                  <a:srgbClr val="FFFFFF"/>
                </a:solidFill>
                <a:latin typeface="Swiss 721 Devanagari Bold"/>
                <a:ea typeface="Swiss 721 Devanagari Bold"/>
                <a:cs typeface="Swiss 721 Devanagari Bold"/>
                <a:sym typeface="Swiss 721 Devanagari Bold"/>
              </a:rPr>
              <a:t>Meril ENT</a:t>
            </a:r>
          </a:p>
        </p:txBody>
      </p:sp>
      <p:sp>
        <p:nvSpPr>
          <p:cNvPr name="TextBox 8" id="8"/>
          <p:cNvSpPr txBox="true"/>
          <p:nvPr/>
        </p:nvSpPr>
        <p:spPr>
          <a:xfrm rot="0">
            <a:off x="345967" y="10070935"/>
            <a:ext cx="1187748" cy="282073"/>
          </a:xfrm>
          <a:prstGeom prst="rect">
            <a:avLst/>
          </a:prstGeom>
        </p:spPr>
        <p:txBody>
          <a:bodyPr anchor="t" rtlCol="false" tIns="0" lIns="0" bIns="0" rIns="0">
            <a:spAutoFit/>
          </a:bodyPr>
          <a:lstStyle/>
          <a:p>
            <a:pPr algn="l">
              <a:lnSpc>
                <a:spcPts val="1105"/>
              </a:lnSpc>
            </a:pPr>
            <a:r>
              <a:rPr lang="en-US" sz="850" spc="-9">
                <a:solidFill>
                  <a:srgbClr val="FFFFFF"/>
                </a:solidFill>
                <a:latin typeface="IBM Plex Sans"/>
                <a:ea typeface="IBM Plex Sans"/>
                <a:cs typeface="IBM Plex Sans"/>
                <a:sym typeface="IBM Plex Sans"/>
              </a:rPr>
              <a:t>E askinfo@merillife.com W www.merillife.com</a:t>
            </a:r>
          </a:p>
        </p:txBody>
      </p:sp>
      <p:sp>
        <p:nvSpPr>
          <p:cNvPr name="TextBox 9" id="9"/>
          <p:cNvSpPr txBox="true"/>
          <p:nvPr/>
        </p:nvSpPr>
        <p:spPr>
          <a:xfrm rot="0">
            <a:off x="347005" y="2204399"/>
            <a:ext cx="1929451" cy="7670302"/>
          </a:xfrm>
          <a:prstGeom prst="rect">
            <a:avLst/>
          </a:prstGeom>
        </p:spPr>
        <p:txBody>
          <a:bodyPr anchor="t" rtlCol="false" tIns="0" lIns="0" bIns="0" rIns="0">
            <a:spAutoFit/>
          </a:bodyPr>
          <a:lstStyle/>
          <a:p>
            <a:pPr algn="l">
              <a:lnSpc>
                <a:spcPts val="1019"/>
              </a:lnSpc>
            </a:pPr>
            <a:r>
              <a:rPr lang="en-US" b="true" sz="850">
                <a:solidFill>
                  <a:srgbClr val="FFFFFF"/>
                </a:solidFill>
                <a:latin typeface="Swiss 721 Devanagari Bold"/>
                <a:ea typeface="Swiss 721 Devanagari Bold"/>
                <a:cs typeface="Swiss 721 Devanagari Bold"/>
                <a:sym typeface="Swiss 721 Devanagari Bold"/>
              </a:rPr>
              <a:t>Meril, Inc. </a:t>
            </a:r>
            <a:r>
              <a:rPr lang="en-US" sz="850">
                <a:solidFill>
                  <a:srgbClr val="FFFFFF"/>
                </a:solidFill>
                <a:latin typeface="Swiss 721 Devanagari Light"/>
                <a:ea typeface="Swiss 721 Devanagari Light"/>
                <a:cs typeface="Swiss 721 Devanagari Light"/>
                <a:sym typeface="Swiss 721 Devanagari Light"/>
              </a:rPr>
              <a:t>2436 Emrick Boulevard, Bethlehem, PA 18020 T +610 500 2080 F +610 317 1672 </a:t>
            </a:r>
            <a:r>
              <a:rPr lang="en-US" b="true" sz="850">
                <a:solidFill>
                  <a:srgbClr val="FFFFFF"/>
                </a:solidFill>
                <a:latin typeface="Swiss 721 Devanagari Bold"/>
                <a:ea typeface="Swiss 721 Devanagari Bold"/>
                <a:cs typeface="Swiss 721 Devanagari Bold"/>
                <a:sym typeface="Swiss 721 Devanagari Bold"/>
              </a:rPr>
              <a:t>Meril South America </a:t>
            </a:r>
            <a:r>
              <a:rPr lang="en-US" sz="850">
                <a:solidFill>
                  <a:srgbClr val="FFFFFF"/>
                </a:solidFill>
                <a:latin typeface="Swiss 721 Devanagari Light"/>
                <a:ea typeface="Swiss 721 Devanagari Light"/>
                <a:cs typeface="Swiss 721 Devanagari Light"/>
                <a:sym typeface="Swiss 721 Devanagari Light"/>
              </a:rPr>
              <a:t>Doc Med LTDA Al. dos Tupiniquins, 1079 - Cep: 04077-003 - Moema. Sao Paulo. Brazil. T +55 11 3624 5935 F +55 11 3624 5936 </a:t>
            </a:r>
            <a:r>
              <a:rPr lang="en-US" b="true" sz="850">
                <a:solidFill>
                  <a:srgbClr val="FFFFFF"/>
                </a:solidFill>
                <a:latin typeface="Swiss 721 Devanagari Bold"/>
                <a:ea typeface="Swiss 721 Devanagari Bold"/>
                <a:cs typeface="Swiss 721 Devanagari Bold"/>
                <a:sym typeface="Swiss 721 Devanagari Bold"/>
              </a:rPr>
              <a:t>Meril GmbH. </a:t>
            </a:r>
            <a:r>
              <a:rPr lang="en-US" sz="850">
                <a:solidFill>
                  <a:srgbClr val="FFFFFF"/>
                </a:solidFill>
                <a:latin typeface="Swiss 721 Devanagari Light"/>
                <a:ea typeface="Swiss 721 Devanagari Light"/>
                <a:cs typeface="Swiss 721 Devanagari Light"/>
                <a:sym typeface="Swiss 721 Devanagari Light"/>
              </a:rPr>
              <a:t>Bornheimer Strasse 135-137, D-53119 Bonn. Germany. T +49 228 7100 4000 F +49 228 7100 4001 </a:t>
            </a:r>
            <a:r>
              <a:rPr lang="en-US" b="true" sz="850">
                <a:solidFill>
                  <a:srgbClr val="FFFFFF"/>
                </a:solidFill>
                <a:latin typeface="Swiss 721 Devanagari Bold"/>
                <a:ea typeface="Swiss 721 Devanagari Bold"/>
                <a:cs typeface="Swiss 721 Devanagari Bold"/>
                <a:sym typeface="Swiss 721 Devanagari Bold"/>
              </a:rPr>
              <a:t>Meril Tibbi Cihazlar </a:t>
            </a:r>
            <a:r>
              <a:rPr lang="en-US" sz="850">
                <a:solidFill>
                  <a:srgbClr val="FFFFFF"/>
                </a:solidFill>
                <a:latin typeface="Swiss 721 Devanagari Light"/>
                <a:ea typeface="Swiss 721 Devanagari Light"/>
                <a:cs typeface="Swiss 721 Devanagari Light"/>
                <a:sym typeface="Swiss 721 Devanagari Light"/>
              </a:rPr>
              <a:t>Meril Tıbbi Cihazlar İmalat ve Ticaret A.Ş. İçerenköy Mah. Çetinkaya Sok. Prestij Plaza No:28 Kat:4 Ataşehir, 34752 İstanbul / Turkey T +90 216 641 44 24 F +90 216 641 44 25 </a:t>
            </a:r>
            <a:r>
              <a:rPr lang="en-US" b="true" sz="850">
                <a:solidFill>
                  <a:srgbClr val="FFFFFF"/>
                </a:solidFill>
                <a:latin typeface="Swiss 721 Devanagari Bold"/>
                <a:ea typeface="Swiss 721 Devanagari Bold"/>
                <a:cs typeface="Swiss 721 Devanagari Bold"/>
                <a:sym typeface="Swiss 721 Devanagari Bold"/>
              </a:rPr>
              <a:t>Meril China Co. Ltd. </a:t>
            </a:r>
            <a:r>
              <a:rPr lang="en-US" sz="850">
                <a:solidFill>
                  <a:srgbClr val="FFFFFF"/>
                </a:solidFill>
                <a:latin typeface="Swiss 721 Devanagari Light"/>
                <a:ea typeface="Swiss 721 Devanagari Light"/>
                <a:cs typeface="Swiss 721 Devanagari Light"/>
                <a:sym typeface="Swiss 721 Devanagari Light"/>
              </a:rPr>
              <a:t>2301b,23f, Lixin Plaza, no 90,South Hubin Road, Xiamen, China T 0086-592-5368505 F 0086-592-5368519 </a:t>
            </a:r>
            <a:r>
              <a:rPr lang="en-US" b="true" sz="850">
                <a:solidFill>
                  <a:srgbClr val="FFFFFF"/>
                </a:solidFill>
                <a:latin typeface="Swiss 721 Devanagari Bold"/>
                <a:ea typeface="Swiss 721 Devanagari Bold"/>
                <a:cs typeface="Swiss 721 Devanagari Bold"/>
                <a:sym typeface="Swiss 721 Devanagari Bold"/>
              </a:rPr>
              <a:t>Meril SA Pty. Ltd. </a:t>
            </a:r>
            <a:r>
              <a:rPr lang="en-US" sz="850">
                <a:solidFill>
                  <a:srgbClr val="FFFFFF"/>
                </a:solidFill>
                <a:latin typeface="Swiss 721 Devanagari Light"/>
                <a:ea typeface="Swiss 721 Devanagari Light"/>
                <a:cs typeface="Swiss 721 Devanagari Light"/>
                <a:sym typeface="Swiss 721 Devanagari Light"/>
              </a:rPr>
              <a:t>102, 104, S101 and S102, Boulevard West Ofce Park, 142 Western Service Road, Erf 813 Woodmead Extension 17 Sandton, Johannesburg – 2191 South Africa T +27 11 465-2049 F +27 86 471 7941 </a:t>
            </a:r>
            <a:r>
              <a:rPr lang="en-US" b="true" sz="850">
                <a:solidFill>
                  <a:srgbClr val="FFFFFF"/>
                </a:solidFill>
                <a:latin typeface="Swiss 721 Devanagari Bold"/>
                <a:ea typeface="Swiss 721 Devanagari Bold"/>
                <a:cs typeface="Swiss 721 Devanagari Bold"/>
                <a:sym typeface="Swiss 721 Devanagari Bold"/>
              </a:rPr>
              <a:t>Meril Medical LLC. </a:t>
            </a:r>
            <a:r>
              <a:rPr lang="en-US" sz="850">
                <a:solidFill>
                  <a:srgbClr val="FFFFFF"/>
                </a:solidFill>
                <a:latin typeface="Swiss 721 Devanagari Light"/>
                <a:ea typeface="Swiss 721 Devanagari Light"/>
                <a:cs typeface="Swiss 721 Devanagari Light"/>
                <a:sym typeface="Swiss 721 Devanagari Light"/>
              </a:rPr>
              <a:t>Nauchnyi Proezd 19, Moscow , Russia – 117 246. Ofce - +7 495 772 7643 </a:t>
            </a:r>
            <a:r>
              <a:rPr lang="en-US" b="true" sz="850">
                <a:solidFill>
                  <a:srgbClr val="FFFFFF"/>
                </a:solidFill>
                <a:latin typeface="Swiss 721 Devanagari Bold"/>
                <a:ea typeface="Swiss 721 Devanagari Bold"/>
                <a:cs typeface="Swiss 721 Devanagari Bold"/>
                <a:sym typeface="Swiss 721 Devanagari Bold"/>
              </a:rPr>
              <a:t>EU representative. </a:t>
            </a:r>
            <a:r>
              <a:rPr lang="en-US" sz="850">
                <a:solidFill>
                  <a:srgbClr val="FFFFFF"/>
                </a:solidFill>
                <a:latin typeface="Swiss 721 Devanagari Light"/>
                <a:ea typeface="Swiss 721 Devanagari Light"/>
                <a:cs typeface="Swiss 721 Devanagari Light"/>
                <a:sym typeface="Swiss 721 Devanagari Light"/>
              </a:rPr>
              <a:t>Obelis S.A. Bd, General Wahis 53, 1030, Brussels, Belgium. T +32 2 732 5954 F +32 2 732 6003 E mail@obelis.net</a:t>
            </a:r>
          </a:p>
        </p:txBody>
      </p:sp>
      <p:sp>
        <p:nvSpPr>
          <p:cNvPr name="TextBox 10" id="10"/>
          <p:cNvSpPr txBox="true"/>
          <p:nvPr/>
        </p:nvSpPr>
        <p:spPr>
          <a:xfrm rot="0">
            <a:off x="347043" y="1169232"/>
            <a:ext cx="1741046" cy="941641"/>
          </a:xfrm>
          <a:prstGeom prst="rect">
            <a:avLst/>
          </a:prstGeom>
        </p:spPr>
        <p:txBody>
          <a:bodyPr anchor="t" rtlCol="false" tIns="0" lIns="0" bIns="0" rIns="0">
            <a:spAutoFit/>
          </a:bodyPr>
          <a:lstStyle/>
          <a:p>
            <a:pPr algn="l">
              <a:lnSpc>
                <a:spcPts val="1019"/>
              </a:lnSpc>
            </a:pPr>
            <a:r>
              <a:rPr lang="en-US" b="true" sz="850">
                <a:solidFill>
                  <a:srgbClr val="FFFFFF"/>
                </a:solidFill>
                <a:latin typeface="Swiss 721 Devanagari Bold"/>
                <a:ea typeface="Swiss 721 Devanagari Bold"/>
                <a:cs typeface="Swiss 721 Devanagari Bold"/>
                <a:sym typeface="Swiss 721 Devanagari Bold"/>
              </a:rPr>
              <a:t>Subsidiary companies: Meril Life Sciences India Pvt. Ltd. </a:t>
            </a:r>
            <a:r>
              <a:rPr lang="en-US" sz="850">
                <a:solidFill>
                  <a:srgbClr val="FFFFFF"/>
                </a:solidFill>
                <a:latin typeface="Swiss 721 Devanagari Light"/>
                <a:ea typeface="Swiss 721 Devanagari Light"/>
                <a:cs typeface="Swiss 721 Devanagari Light"/>
                <a:sym typeface="Swiss 721 Devanagari Light"/>
              </a:rPr>
              <a:t> 512/513, Midas Tower, Sahar Plaza, Andheri (E), Mumbai - 400 059, Maharashtra, India T +91 22 4047 9797 F +91 22 4047 9717</a:t>
            </a:r>
          </a:p>
        </p:txBody>
      </p:sp>
      <p:sp>
        <p:nvSpPr>
          <p:cNvPr name="TextBox 11" id="11"/>
          <p:cNvSpPr txBox="true"/>
          <p:nvPr/>
        </p:nvSpPr>
        <p:spPr>
          <a:xfrm rot="0">
            <a:off x="347043" y="263452"/>
            <a:ext cx="1911772" cy="812254"/>
          </a:xfrm>
          <a:prstGeom prst="rect">
            <a:avLst/>
          </a:prstGeom>
        </p:spPr>
        <p:txBody>
          <a:bodyPr anchor="t" rtlCol="false" tIns="0" lIns="0" bIns="0" rIns="0">
            <a:spAutoFit/>
          </a:bodyPr>
          <a:lstStyle/>
          <a:p>
            <a:pPr algn="l">
              <a:lnSpc>
                <a:spcPts val="1019"/>
              </a:lnSpc>
            </a:pPr>
            <a:r>
              <a:rPr lang="en-US" b="true" sz="850">
                <a:solidFill>
                  <a:srgbClr val="FFFFFF"/>
                </a:solidFill>
                <a:latin typeface="Swiss 721 Devanagari Bold"/>
                <a:ea typeface="Swiss 721 Devanagari Bold"/>
                <a:cs typeface="Swiss 721 Devanagari Bold"/>
                <a:sym typeface="Swiss 721 Devanagari Bold"/>
              </a:rPr>
              <a:t>Manufacturer: Meril Life Sciences Pvt. Ltd. </a:t>
            </a:r>
            <a:r>
              <a:rPr lang="en-US" sz="850">
                <a:solidFill>
                  <a:srgbClr val="FFFFFF"/>
                </a:solidFill>
                <a:latin typeface="Swiss 721 Devanagari Light"/>
                <a:ea typeface="Swiss 721 Devanagari Light"/>
                <a:cs typeface="Swiss 721 Devanagari Light"/>
                <a:sym typeface="Swiss 721 Devanagari Light"/>
              </a:rPr>
              <a:t>Survey No. 135/139, Bilakhia House, Muktanand Marg, Chala, Vapi - 396 191. Gujarat. India. T +91 260 240 8000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DAHE9eL-nYo</dc:identifier>
  <dcterms:modified xsi:type="dcterms:W3CDTF">2011-08-01T06:04:30Z</dcterms:modified>
  <cp:revision>1</cp:revision>
  <dc:title>MESIRE Brochure.pdf</dc:title>
</cp:coreProperties>
</file>